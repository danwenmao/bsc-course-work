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4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291973-C0AF-4370-8832-3EEFF8DBDC09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A09BAA-E435-438D-A0C5-2FECB2B94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470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261518-8D8F-4235-8DBA-B3CB57804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AC16468-5DC4-4B00-A9BC-C328C9528C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2537C3-13C5-4653-9D6C-E3D1AD74B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B2DC-E65B-4330-947C-E9382ED04755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9426B7-3D86-46D6-9D67-F4A3ECEF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0769EF-6F82-46E5-9A5F-93D71D6C3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128C2-A4D7-4CAE-B4AC-F764B7572C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546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CA601F-A2D3-47E7-87AA-5B2B5EE53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76C5F6-B3EA-473D-A7AE-DBADF0D02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87F026-69A9-4AD9-95FF-6D020CF61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B2DC-E65B-4330-947C-E9382ED04755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550925-67CF-45AE-B7C8-BF15BD0AA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388FBE-2EE7-4A88-AF13-B2755078E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128C2-A4D7-4CAE-B4AC-F764B7572C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425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1447BA-5816-480C-97E9-053E0839C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F59F9E-E415-4444-A9B2-CB376765F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593F20-5424-4CC6-A291-9567650EA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B2DC-E65B-4330-947C-E9382ED04755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FA863F-30D1-4432-9094-AF061B38B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E2FDEE-795B-4DAB-A411-746C3E6AE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128C2-A4D7-4CAE-B4AC-F764B7572C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0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2A8959-36A6-490B-9B35-8BACE8597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D55A83-863A-471D-A8FD-F65A334E96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8D81EA-D2C7-48FE-B276-54F25D604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D17140-DAAD-4DB6-9453-DC844810C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B2DC-E65B-4330-947C-E9382ED04755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CB3C5B-B380-4D9C-8FAD-5B343C73B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E2CB33-6A27-4431-A56A-6722546BD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128C2-A4D7-4CAE-B4AC-F764B7572C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378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813F2D-7B30-471B-830C-BF3F9F2CC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257070-63CD-4C08-89D1-9CF2DEA02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95CAE6-1B2B-4C7B-9E75-FC05BEC32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2796A8A-CAFB-41F0-8135-A99270D937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C3C9676-E53C-4D33-AC48-10E2BA80F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0E2408E-D78C-44D7-897D-93CF13345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B2DC-E65B-4330-947C-E9382ED04755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39E258E-0A82-4948-9D19-B48071E1B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F725566-778E-40D4-8A18-55AA9F745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128C2-A4D7-4CAE-B4AC-F764B7572C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203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7E5B37-AB76-4D92-969D-A1DA11BC1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0D471DC-4C29-4F04-930B-F0D67DBDD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B2DC-E65B-4330-947C-E9382ED04755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444C67D-F3F8-4836-89FC-305FE2BF0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0BA07D-2C70-405A-8FDE-C5075D54C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128C2-A4D7-4CAE-B4AC-F764B7572C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136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3E02A7F-1945-4E3B-9472-B4B5CA62C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B2DC-E65B-4330-947C-E9382ED04755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D9CDFBB-7EA5-4C0A-8149-36949FCB2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3D5D32-7C9D-4576-B462-3C75D9201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128C2-A4D7-4CAE-B4AC-F764B7572C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714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E7940E-59A0-477C-8531-5FAA46C90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EBAECF-3FFA-456B-B669-997623CA4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5DFF69-F76B-4816-B68B-3D11389BA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1227D1-AB8A-4C1D-8D75-5B10E370C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B2DC-E65B-4330-947C-E9382ED04755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AEF66E-0322-46B1-BE07-02BC37688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3DAAFC-41CB-439C-A4BF-3EEC4868A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128C2-A4D7-4CAE-B4AC-F764B7572C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350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B68497-584E-4958-8F18-090C36256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01F529B-4D13-4DDC-AF7B-F96B1AFDDB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E9C73D-365B-41DF-90B9-9B65AAF77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34BDCF-1815-4512-8B94-D81798D28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B2DC-E65B-4330-947C-E9382ED04755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6F414A-5FA2-41CF-9CFE-69C257EFA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1D3BDA-31F8-499A-A524-5FD714B62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128C2-A4D7-4CAE-B4AC-F764B7572C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874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5D4BC9-E3BD-4BD5-AFB4-2A272D8BB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D0D60F6-F95E-423D-A393-80E4B1505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A8B4FD-8107-4E30-BBC6-C736A0E54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B2DC-E65B-4330-947C-E9382ED04755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027630-9BE7-436D-BDC9-5806C284B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629983-4359-44DE-A636-07DA71362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128C2-A4D7-4CAE-B4AC-F764B7572C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058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046463A-DE72-4106-85F0-0937B3E98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4B199C-6EC6-47D5-8715-A205CC4BF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0C3335-4C9F-407C-A13F-9892F6F3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B2DC-E65B-4330-947C-E9382ED04755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8088D5-ACDB-4351-AEF6-F53C64758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33EC00-44BC-4E30-B611-761F1DEB6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128C2-A4D7-4CAE-B4AC-F764B7572C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440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F982529-15FC-44F5-83BB-14A4D153F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96A215-7975-4976-B80D-FB1024C42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50D601-60E6-43C5-954D-C5DC40665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7B2DC-E65B-4330-947C-E9382ED04755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D94C93-0D04-40B9-A250-E53C8A0700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6AE0EE-1176-4DF2-A11C-C332ECD1D9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128C2-A4D7-4CAE-B4AC-F764B7572C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329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C172CE-E5E9-4308-B942-DC1189915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91544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FFT</a:t>
            </a:r>
            <a:r>
              <a:rPr lang="zh-CN" altLang="en-US" sz="5400" dirty="0"/>
              <a:t>在</a:t>
            </a:r>
            <a:r>
              <a:rPr lang="en-US" altLang="zh-CN" sz="5400" dirty="0"/>
              <a:t>DEM</a:t>
            </a:r>
            <a:r>
              <a:rPr lang="zh-CN" altLang="en-US" sz="5400" dirty="0"/>
              <a:t>数据处理的应用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5F6E92-3CDD-4521-AFB4-9014F074F6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73062"/>
            <a:ext cx="9144000" cy="1990894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茅单文  </a:t>
            </a:r>
            <a:r>
              <a:rPr lang="en-US" altLang="zh-CN" dirty="0"/>
              <a:t>231830128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sz="2000" i="1" dirty="0"/>
              <a:t>Ref.: Perron, J. T., J. W. Kirchner, and W. E. Dietrich (2008), Spectral signatures of characteristic spatial scales and nonfractal structure in landscapes, J. </a:t>
            </a:r>
            <a:r>
              <a:rPr lang="en-US" altLang="zh-CN" sz="2000" i="1" dirty="0" err="1"/>
              <a:t>Geophys</a:t>
            </a:r>
            <a:r>
              <a:rPr lang="en-US" altLang="zh-CN" sz="2000" i="1" dirty="0"/>
              <a:t>. Res., 113, F04003, doi:10.1029/2007JF000866.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5754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CD5200-BD6A-4362-91FC-41FA5EFF3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FFT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4C681A-CC1B-4FDB-A2AE-AD60CCFB9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5944341" cy="35631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/>
              <a:t>离散序列</a:t>
            </a: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zh-CN" altLang="en-US" b="1" dirty="0"/>
              <a:t>周期</a:t>
            </a:r>
            <a:r>
              <a:rPr lang="en-US" altLang="zh-CN" b="1" dirty="0"/>
              <a:t>/</a:t>
            </a:r>
            <a:r>
              <a:rPr lang="zh-CN" altLang="en-US" b="1" dirty="0"/>
              <a:t>准周期</a:t>
            </a: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zh-CN" altLang="en-US" b="1" dirty="0"/>
              <a:t>频域分析</a:t>
            </a:r>
            <a:endParaRPr lang="en-US" altLang="zh-CN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2D59682-0F62-4652-8ADD-36C0125BE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742" y="1046146"/>
            <a:ext cx="4993293" cy="496357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B3E18B8-3D4B-43CB-A928-A769DB687CE4}"/>
              </a:ext>
            </a:extLst>
          </p:cNvPr>
          <p:cNvSpPr txBox="1"/>
          <p:nvPr/>
        </p:nvSpPr>
        <p:spPr>
          <a:xfrm>
            <a:off x="3119391" y="3355607"/>
            <a:ext cx="29766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时间周期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空间周期</a:t>
            </a:r>
            <a:r>
              <a:rPr lang="en-US" altLang="zh-CN" sz="2400" dirty="0"/>
              <a:t>——</a:t>
            </a:r>
            <a:r>
              <a:rPr lang="zh-CN" altLang="en-US" sz="2400" dirty="0"/>
              <a:t>地貌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EF10838-1B2E-41A8-B344-F8BF0F01E5E2}"/>
              </a:ext>
            </a:extLst>
          </p:cNvPr>
          <p:cNvSpPr txBox="1"/>
          <p:nvPr/>
        </p:nvSpPr>
        <p:spPr>
          <a:xfrm>
            <a:off x="3119391" y="1825625"/>
            <a:ext cx="32277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数字高程模型（</a:t>
            </a:r>
            <a:r>
              <a:rPr lang="en-US" altLang="zh-CN" sz="2400" dirty="0"/>
              <a:t>DEM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r>
              <a:rPr lang="zh-CN" altLang="en-US" sz="2400" dirty="0"/>
              <a:t>地貌</a:t>
            </a:r>
            <a:r>
              <a:rPr lang="en-US" altLang="zh-CN" sz="2400" dirty="0"/>
              <a:t>——</a:t>
            </a:r>
            <a:r>
              <a:rPr lang="zh-CN" altLang="en-US" sz="2400" dirty="0"/>
              <a:t>离散点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6DED17D-1F39-4635-A7E4-C28ECC17EE77}"/>
              </a:ext>
            </a:extLst>
          </p:cNvPr>
          <p:cNvSpPr txBox="1"/>
          <p:nvPr/>
        </p:nvSpPr>
        <p:spPr>
          <a:xfrm>
            <a:off x="3119391" y="4885589"/>
            <a:ext cx="2346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地貌特征</a:t>
            </a:r>
          </a:p>
        </p:txBody>
      </p:sp>
    </p:spTree>
    <p:extLst>
      <p:ext uri="{BB962C8B-B14F-4D97-AF65-F5344CB8AC3E}">
        <p14:creationId xmlns:p14="http://schemas.microsoft.com/office/powerpoint/2010/main" val="84382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A4C682-F25E-4577-8BED-9C59B1814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空间二维</a:t>
            </a:r>
            <a:r>
              <a:rPr lang="en-US" altLang="zh-CN" dirty="0"/>
              <a:t>-DFT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3B2112-5AA1-4B25-A9F6-C8BD7D1F9445}"/>
              </a:ext>
            </a:extLst>
          </p:cNvPr>
          <p:cNvSpPr txBox="1"/>
          <p:nvPr/>
        </p:nvSpPr>
        <p:spPr>
          <a:xfrm>
            <a:off x="932155" y="1345245"/>
            <a:ext cx="3613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时间</a:t>
            </a:r>
            <a:r>
              <a:rPr lang="en-US" altLang="zh-CN" sz="2800" dirty="0"/>
              <a:t>-DFT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B8B7BB5-764A-4509-B0D8-11CBED0E0EBC}"/>
              </a:ext>
            </a:extLst>
          </p:cNvPr>
          <p:cNvSpPr txBox="1"/>
          <p:nvPr/>
        </p:nvSpPr>
        <p:spPr>
          <a:xfrm>
            <a:off x="5687996" y="1345245"/>
            <a:ext cx="25012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空间一维</a:t>
            </a:r>
            <a:r>
              <a:rPr lang="en-US" altLang="zh-CN" sz="2800" dirty="0"/>
              <a:t>-DFT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BEC3B8D-435F-4E15-8BB7-195FC4E95EB3}"/>
              </a:ext>
            </a:extLst>
          </p:cNvPr>
          <p:cNvSpPr txBox="1"/>
          <p:nvPr/>
        </p:nvSpPr>
        <p:spPr>
          <a:xfrm>
            <a:off x="5685407" y="3800282"/>
            <a:ext cx="25012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空间二维</a:t>
            </a:r>
            <a:r>
              <a:rPr lang="en-US" altLang="zh-CN" sz="2800" dirty="0"/>
              <a:t>-DFT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31877EB-053C-4F4F-B2DD-DCCC3BBAB795}"/>
                  </a:ext>
                </a:extLst>
              </p:cNvPr>
              <p:cNvSpPr txBox="1"/>
              <p:nvPr/>
            </p:nvSpPr>
            <p:spPr>
              <a:xfrm>
                <a:off x="932155" y="1784160"/>
                <a:ext cx="2572304" cy="877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CN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kumimoji="0" lang="zh-CN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kumimoji="0" lang="zh-CN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kumimoji="0" lang="zh-CN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]=</m:t>
                      </m:r>
                      <m:nary>
                        <m:naryPr>
                          <m:chr m:val="∑"/>
                          <m:ctrlPr>
                            <a:rPr kumimoji="0" lang="zh-CN" altLang="en-US" sz="180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]</m:t>
                          </m:r>
                          <m:sSup>
                            <m:sSupPr>
                              <m:ctrlP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zh-CN" alt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zh-CN" alt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zh-CN" alt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  <m:r>
                                        <a:rPr lang="zh-CN" alt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𝝅</m:t>
                                      </m:r>
                                    </m:num>
                                    <m:den>
                                      <m:r>
                                        <a:rPr lang="zh-CN" alt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𝑵</m:t>
                                      </m:r>
                                    </m:den>
                                  </m:f>
                                </m:e>
                              </m:func>
                              <m:r>
                                <a:rPr lang="en-US" altLang="zh-CN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𝒏𝒌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31877EB-053C-4F4F-B2DD-DCCC3BBAB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155" y="1784160"/>
                <a:ext cx="2572304" cy="877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6259A17-AC61-4F5E-8D14-9FE00FA229EF}"/>
                  </a:ext>
                </a:extLst>
              </p:cNvPr>
              <p:cNvSpPr txBox="1"/>
              <p:nvPr/>
            </p:nvSpPr>
            <p:spPr>
              <a:xfrm>
                <a:off x="1065320" y="2742056"/>
                <a:ext cx="29740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/>
                  <a:t>：（数字）时间频率，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zh-CN" altLang="en-US" i="1" dirty="0"/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6259A17-AC61-4F5E-8D14-9FE00FA22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320" y="2742056"/>
                <a:ext cx="2974020" cy="369332"/>
              </a:xfrm>
              <a:prstGeom prst="rect">
                <a:avLst/>
              </a:prstGeom>
              <a:blipFill>
                <a:blip r:embed="rId3"/>
                <a:stretch>
                  <a:fillRect t="-1333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9396B5C-34CF-4BC9-9A66-1B650E64AC7F}"/>
                  </a:ext>
                </a:extLst>
              </p:cNvPr>
              <p:cNvSpPr txBox="1"/>
              <p:nvPr/>
            </p:nvSpPr>
            <p:spPr>
              <a:xfrm>
                <a:off x="1065319" y="3191287"/>
                <a:ext cx="3746377" cy="491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zh-CN" altLang="en-US" dirty="0"/>
                  <a:t>：（物理）时间频率，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zh-CN" altLang="en-US" i="1" dirty="0"/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9396B5C-34CF-4BC9-9A66-1B650E64A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319" y="3191287"/>
                <a:ext cx="3746377" cy="491288"/>
              </a:xfrm>
              <a:prstGeom prst="rect">
                <a:avLst/>
              </a:prstGeom>
              <a:blipFill>
                <a:blip r:embed="rId4"/>
                <a:stretch>
                  <a:fillRect l="-489" b="-3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9B4A1E0-7674-416C-A769-62970B9918E7}"/>
                  </a:ext>
                </a:extLst>
              </p:cNvPr>
              <p:cNvSpPr txBox="1"/>
              <p:nvPr/>
            </p:nvSpPr>
            <p:spPr>
              <a:xfrm>
                <a:off x="5685407" y="1792811"/>
                <a:ext cx="2572304" cy="877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CN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kumimoji="0" lang="zh-CN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kumimoji="0" lang="zh-CN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kumimoji="0" lang="zh-CN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]=</m:t>
                      </m:r>
                      <m:nary>
                        <m:naryPr>
                          <m:chr m:val="∑"/>
                          <m:ctrlPr>
                            <a:rPr kumimoji="0" lang="zh-CN" altLang="en-US" sz="180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]</m:t>
                          </m:r>
                          <m:sSup>
                            <m:sSupPr>
                              <m:ctrlP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zh-CN" alt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zh-CN" alt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zh-CN" alt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  <m:r>
                                        <a:rPr lang="zh-CN" alt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𝝅</m:t>
                                      </m:r>
                                    </m:num>
                                    <m:den>
                                      <m:r>
                                        <a:rPr lang="zh-CN" alt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𝑵</m:t>
                                      </m:r>
                                    </m:den>
                                  </m:f>
                                </m:e>
                              </m:func>
                              <m:r>
                                <a:rPr lang="en-US" altLang="zh-CN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𝒏𝒌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9B4A1E0-7674-416C-A769-62970B991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407" y="1792811"/>
                <a:ext cx="2572304" cy="877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8382605-42EB-4EF5-814C-61BB06C41CF8}"/>
                  </a:ext>
                </a:extLst>
              </p:cNvPr>
              <p:cNvSpPr txBox="1"/>
              <p:nvPr/>
            </p:nvSpPr>
            <p:spPr>
              <a:xfrm>
                <a:off x="5818572" y="2750707"/>
                <a:ext cx="33875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/>
                  <a:t>：（数字）空间频率，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zh-CN" altLang="en-US" i="1" dirty="0"/>
              </a:p>
            </p:txBody>
          </p:sp>
        </mc:Choice>
        <mc:Fallback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8382605-42EB-4EF5-814C-61BB06C41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572" y="2750707"/>
                <a:ext cx="3387572" cy="369332"/>
              </a:xfrm>
              <a:prstGeom prst="rect">
                <a:avLst/>
              </a:prstGeom>
              <a:blipFill>
                <a:blip r:embed="rId6"/>
                <a:stretch>
                  <a:fillRect t="-11475" b="-2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E696DE6-959B-43D9-B000-B42ED74A352B}"/>
                  </a:ext>
                </a:extLst>
              </p:cNvPr>
              <p:cNvSpPr txBox="1"/>
              <p:nvPr/>
            </p:nvSpPr>
            <p:spPr>
              <a:xfrm>
                <a:off x="5818571" y="3199938"/>
                <a:ext cx="3746377" cy="491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zh-CN" altLang="en-US" dirty="0"/>
                  <a:t>：（物理）空间频率，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zh-CN" altLang="en-US" i="1" dirty="0"/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E696DE6-959B-43D9-B000-B42ED74A3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571" y="3199938"/>
                <a:ext cx="3746377" cy="491288"/>
              </a:xfrm>
              <a:prstGeom prst="rect">
                <a:avLst/>
              </a:prstGeom>
              <a:blipFill>
                <a:blip r:embed="rId7"/>
                <a:stretch>
                  <a:fillRect l="-488" b="-24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C2A7DF09-199F-4CD0-BDFB-98B693089A56}"/>
                  </a:ext>
                </a:extLst>
              </p:cNvPr>
              <p:cNvSpPr txBox="1"/>
              <p:nvPr/>
            </p:nvSpPr>
            <p:spPr>
              <a:xfrm>
                <a:off x="3693111" y="2051140"/>
                <a:ext cx="16157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时间序列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C2A7DF09-199F-4CD0-BDFB-98B693089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3111" y="2051140"/>
                <a:ext cx="1615736" cy="369332"/>
              </a:xfrm>
              <a:prstGeom prst="rect">
                <a:avLst/>
              </a:prstGeom>
              <a:blipFill>
                <a:blip r:embed="rId8"/>
                <a:stretch>
                  <a:fillRect l="-3396" t="-11475" b="-2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9D3B1731-7826-4060-9641-A58C44F44980}"/>
                  </a:ext>
                </a:extLst>
              </p:cNvPr>
              <p:cNvSpPr txBox="1"/>
              <p:nvPr/>
            </p:nvSpPr>
            <p:spPr>
              <a:xfrm>
                <a:off x="8634271" y="2051140"/>
                <a:ext cx="16157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空间序列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9D3B1731-7826-4060-9641-A58C44F449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4271" y="2051140"/>
                <a:ext cx="1615736" cy="369332"/>
              </a:xfrm>
              <a:prstGeom prst="rect">
                <a:avLst/>
              </a:prstGeom>
              <a:blipFill>
                <a:blip r:embed="rId9"/>
                <a:stretch>
                  <a:fillRect l="-3019" t="-11475" b="-2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A8D9897-C1E8-45E7-A58B-3633A0A8D01D}"/>
                  </a:ext>
                </a:extLst>
              </p:cNvPr>
              <p:cNvSpPr txBox="1"/>
              <p:nvPr/>
            </p:nvSpPr>
            <p:spPr>
              <a:xfrm>
                <a:off x="1065319" y="3882203"/>
                <a:ext cx="4332304" cy="104451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/>
                  <a:t>信号采样频率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1600" i="1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CN" altLang="en-US" sz="1600" b="0" dirty="0"/>
                  <a:t>“有效频域长度”</a:t>
                </a:r>
                <a:endParaRPr lang="en-US" altLang="zh-CN" sz="1600" b="0" dirty="0"/>
              </a:p>
              <a:p>
                <a:r>
                  <a:rPr lang="zh-CN" altLang="en-US" sz="1600" dirty="0"/>
                  <a:t>主值区间长度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1600" dirty="0"/>
                  <a:t>：“有效频域内的点数”</a:t>
                </a:r>
                <a:endParaRPr lang="en-US" altLang="zh-CN" sz="1600" dirty="0"/>
              </a:p>
              <a:p>
                <a:r>
                  <a:rPr lang="zh-CN" altLang="en-US" sz="1600" dirty="0"/>
                  <a:t>频谱间隔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zh-CN" altLang="en-US" sz="1600" b="0" dirty="0"/>
                  <a:t>：数字</a:t>
                </a:r>
                <a:r>
                  <a:rPr lang="en-US" altLang="zh-CN" sz="1600" b="0" dirty="0"/>
                  <a:t>-</a:t>
                </a:r>
                <a:r>
                  <a:rPr lang="zh-CN" altLang="en-US" sz="1600" b="0" dirty="0"/>
                  <a:t>物理频率的系数</a:t>
                </a:r>
                <a:endParaRPr lang="en-US" altLang="zh-CN" sz="1600" b="0" dirty="0"/>
              </a:p>
            </p:txBody>
          </p:sp>
        </mc:Choice>
        <mc:Fallback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A8D9897-C1E8-45E7-A58B-3633A0A8D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319" y="3882203"/>
                <a:ext cx="4332304" cy="1044517"/>
              </a:xfrm>
              <a:prstGeom prst="rect">
                <a:avLst/>
              </a:prstGeom>
              <a:blipFill>
                <a:blip r:embed="rId10"/>
                <a:stretch>
                  <a:fillRect l="-702" b="-115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AA23D9A-81C3-442E-BCD4-4DB7F7577152}"/>
                  </a:ext>
                </a:extLst>
              </p:cNvPr>
              <p:cNvSpPr txBox="1"/>
              <p:nvPr/>
            </p:nvSpPr>
            <p:spPr>
              <a:xfrm>
                <a:off x="5541144" y="4371469"/>
                <a:ext cx="5296272" cy="8935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CN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kumimoji="0" lang="zh-CN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kumimoji="0" lang="zh-CN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]=</m:t>
                      </m:r>
                      <m:nary>
                        <m:naryPr>
                          <m:chr m:val="∑"/>
                          <m:ctrlPr>
                            <a:rPr kumimoji="0" lang="zh-CN" alt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sSub>
                            <m:sSubPr>
                              <m:ctrlP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kumimoji="0" lang="zh-CN" altLang="en-US" sz="180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sSub>
                            <m:sSubPr>
                              <m:ctrlPr>
                                <a:rPr kumimoji="0" lang="en-US" altLang="zh-CN" sz="180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]</m:t>
                          </m:r>
                          <m:sSup>
                            <m:sSupPr>
                              <m:ctrlP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zh-CN" alt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zh-CN" alt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zh-CN" alt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  <m:r>
                                        <a:rPr lang="zh-CN" alt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𝝅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b="1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𝑵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1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func>
                              <m:r>
                                <a:rPr lang="en-US" altLang="zh-CN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sub>
                              </m:sSub>
                              <m:r>
                                <a:rPr lang="en-US" altLang="zh-CN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zh-CN" altLang="en-US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zh-CN" alt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zh-CN" alt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  <m:r>
                                        <a:rPr lang="zh-CN" alt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𝝅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b="1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𝑵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1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func>
                              <m:r>
                                <a:rPr lang="en-US" altLang="zh-CN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AA23D9A-81C3-442E-BCD4-4DB7F75771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1144" y="4371469"/>
                <a:ext cx="5296272" cy="89357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04C6C09-73CE-45F7-AEA2-25B9043FA17E}"/>
                  </a:ext>
                </a:extLst>
              </p:cNvPr>
              <p:cNvSpPr txBox="1"/>
              <p:nvPr/>
            </p:nvSpPr>
            <p:spPr>
              <a:xfrm>
                <a:off x="5818571" y="5238420"/>
                <a:ext cx="5660256" cy="570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：（物理）空间频率，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zh-CN" altLang="en-US" i="1" dirty="0"/>
              </a:p>
            </p:txBody>
          </p:sp>
        </mc:Choice>
        <mc:Fallback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04C6C09-73CE-45F7-AEA2-25B9043FA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571" y="5238420"/>
                <a:ext cx="5660256" cy="570092"/>
              </a:xfrm>
              <a:prstGeom prst="rect">
                <a:avLst/>
              </a:prstGeom>
              <a:blipFill>
                <a:blip r:embed="rId12"/>
                <a:stretch>
                  <a:fillRect l="-323" b="-10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0950EF3-6CB3-41E2-8C70-CDA70E0DC040}"/>
                  </a:ext>
                </a:extLst>
              </p:cNvPr>
              <p:cNvSpPr txBox="1"/>
              <p:nvPr/>
            </p:nvSpPr>
            <p:spPr>
              <a:xfrm>
                <a:off x="5885895" y="5850158"/>
                <a:ext cx="1435906" cy="563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0950EF3-6CB3-41E2-8C70-CDA70E0DC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5895" y="5850158"/>
                <a:ext cx="1435906" cy="563680"/>
              </a:xfrm>
              <a:prstGeom prst="rect">
                <a:avLst/>
              </a:prstGeom>
              <a:blipFill>
                <a:blip r:embed="rId13"/>
                <a:stretch>
                  <a:fillRect b="-1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82C8956D-D6C0-4B40-9FEA-6C59DB2C6424}"/>
                  </a:ext>
                </a:extLst>
              </p:cNvPr>
              <p:cNvSpPr txBox="1"/>
              <p:nvPr/>
            </p:nvSpPr>
            <p:spPr>
              <a:xfrm>
                <a:off x="7512358" y="5808512"/>
                <a:ext cx="1050929" cy="582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𝑡𝑎𝑛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82C8956D-D6C0-4B40-9FEA-6C59DB2C64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358" y="5808512"/>
                <a:ext cx="1050929" cy="58272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9054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CC666E-2FC3-44B0-8E91-DB622880F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FFT</a:t>
            </a:r>
            <a:r>
              <a:rPr lang="zh-CN" altLang="en-US" dirty="0"/>
              <a:t>处理</a:t>
            </a:r>
            <a:r>
              <a:rPr lang="en-US" altLang="zh-CN" dirty="0"/>
              <a:t>DEM</a:t>
            </a:r>
            <a:r>
              <a:rPr lang="zh-CN" altLang="en-US" dirty="0"/>
              <a:t>数据：例子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54EEF37-0564-4280-939E-458669EC0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727" y="2519257"/>
            <a:ext cx="4763797" cy="342878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CB308D2-BE9C-48D5-84B2-39D69AF3D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295" y="1936563"/>
            <a:ext cx="3897297" cy="401147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116F7C7-5DF2-4C42-BC96-A7CBB54D5DD0}"/>
              </a:ext>
            </a:extLst>
          </p:cNvPr>
          <p:cNvSpPr txBox="1"/>
          <p:nvPr/>
        </p:nvSpPr>
        <p:spPr>
          <a:xfrm>
            <a:off x="930195" y="2064943"/>
            <a:ext cx="3011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Toy example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BECE580-989E-476E-80EE-DE819BBCF6BD}"/>
                  </a:ext>
                </a:extLst>
              </p:cNvPr>
              <p:cNvSpPr txBox="1"/>
              <p:nvPr/>
            </p:nvSpPr>
            <p:spPr>
              <a:xfrm>
                <a:off x="10406478" y="2736839"/>
                <a:ext cx="1050929" cy="582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𝑡𝑎𝑛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BECE580-989E-476E-80EE-DE819BBCF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6478" y="2736839"/>
                <a:ext cx="1050929" cy="5827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800E86C-5843-4088-BA03-BEF7CC9B1DA8}"/>
                  </a:ext>
                </a:extLst>
              </p:cNvPr>
              <p:cNvSpPr txBox="1"/>
              <p:nvPr/>
            </p:nvSpPr>
            <p:spPr>
              <a:xfrm>
                <a:off x="7190913" y="5884695"/>
                <a:ext cx="3381888" cy="6081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𝐷𝐹𝑇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)|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800E86C-5843-4088-BA03-BEF7CC9B1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0913" y="5884695"/>
                <a:ext cx="3381888" cy="6081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7902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CC666E-2FC3-44B0-8E91-DB622880F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FFT</a:t>
            </a:r>
            <a:r>
              <a:rPr lang="zh-CN" altLang="en-US" dirty="0"/>
              <a:t>处理</a:t>
            </a:r>
            <a:r>
              <a:rPr lang="en-US" altLang="zh-CN" dirty="0"/>
              <a:t>DEM</a:t>
            </a:r>
            <a:r>
              <a:rPr lang="zh-CN" altLang="en-US" dirty="0"/>
              <a:t>数据：数据预处理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87D11C-3015-46F1-8C8D-A1105D357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数据要求</a:t>
            </a:r>
            <a:endParaRPr lang="en-US" altLang="zh-CN" dirty="0"/>
          </a:p>
          <a:p>
            <a:r>
              <a:rPr lang="zh-CN" altLang="en-US" dirty="0"/>
              <a:t>“</a:t>
            </a:r>
            <a:r>
              <a:rPr lang="zh-CN" altLang="en-US" b="1" dirty="0"/>
              <a:t>平稳</a:t>
            </a:r>
            <a:r>
              <a:rPr lang="zh-CN" altLang="en-US" dirty="0"/>
              <a:t>”（</a:t>
            </a:r>
            <a:r>
              <a:rPr lang="en-US" altLang="zh-CN" dirty="0"/>
              <a:t>Stationary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小区域的均值相近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/>
              <a:t>e.g.</a:t>
            </a:r>
            <a:r>
              <a:rPr lang="zh-CN" altLang="en-US" dirty="0"/>
              <a:t>，区域整体存在下降趋势</a:t>
            </a:r>
            <a:r>
              <a:rPr lang="en-US" altLang="zh-CN" dirty="0"/>
              <a:t>——</a:t>
            </a:r>
            <a:r>
              <a:rPr lang="zh-CN" altLang="en-US" dirty="0"/>
              <a:t>强的低频信号（背景），淹没高频信号（目标信息）</a:t>
            </a:r>
            <a:endParaRPr lang="en-US" altLang="zh-CN" dirty="0"/>
          </a:p>
          <a:p>
            <a:pPr lvl="1"/>
            <a:r>
              <a:rPr lang="zh-CN" altLang="en-US" dirty="0"/>
              <a:t>小区域的方差相近</a:t>
            </a:r>
            <a:endParaRPr lang="en-US" altLang="zh-CN" sz="2000" dirty="0"/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zh-CN" altLang="en-US" b="1" dirty="0"/>
              <a:t>严格周期性</a:t>
            </a:r>
            <a:r>
              <a:rPr lang="en-US" altLang="zh-CN" dirty="0"/>
              <a:t>——</a:t>
            </a:r>
            <a:r>
              <a:rPr lang="zh-CN" altLang="en-US" dirty="0"/>
              <a:t>延拓</a:t>
            </a:r>
            <a:endParaRPr lang="en-US" altLang="zh-CN" dirty="0"/>
          </a:p>
          <a:p>
            <a:pPr lvl="1"/>
            <a:r>
              <a:rPr lang="zh-CN" altLang="en-US" sz="2800" dirty="0"/>
              <a:t>非周期数据：频谱泄露</a:t>
            </a:r>
            <a:endParaRPr lang="en-US" altLang="zh-CN" sz="2800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zh-CN" altLang="en-US" sz="2400" dirty="0"/>
              <a:t>加窗（</a:t>
            </a:r>
            <a:r>
              <a:rPr lang="en-US" altLang="zh-CN" sz="2400" dirty="0"/>
              <a:t>Hann</a:t>
            </a:r>
            <a:r>
              <a:rPr lang="zh-CN" altLang="en-US" sz="2400" dirty="0"/>
              <a:t>窗）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315279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CC666E-2FC3-44B0-8E91-DB622880F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FFT</a:t>
            </a:r>
            <a:r>
              <a:rPr lang="zh-CN" altLang="en-US" dirty="0"/>
              <a:t>处理</a:t>
            </a:r>
            <a:r>
              <a:rPr lang="en-US" altLang="zh-CN" dirty="0"/>
              <a:t>DEM</a:t>
            </a:r>
            <a:r>
              <a:rPr lang="zh-CN" altLang="en-US" dirty="0"/>
              <a:t>数据：数据预处理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87D11C-3015-46F1-8C8D-A1105D357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数据要求</a:t>
            </a:r>
            <a:endParaRPr lang="en-US" altLang="zh-CN" dirty="0"/>
          </a:p>
          <a:p>
            <a:r>
              <a:rPr lang="zh-CN" altLang="en-US" dirty="0"/>
              <a:t>“</a:t>
            </a:r>
            <a:r>
              <a:rPr lang="zh-CN" altLang="en-US" b="1" dirty="0"/>
              <a:t>平稳</a:t>
            </a:r>
            <a:r>
              <a:rPr lang="zh-CN" altLang="en-US" dirty="0"/>
              <a:t>”（</a:t>
            </a:r>
            <a:r>
              <a:rPr lang="en-US" altLang="zh-CN" dirty="0"/>
              <a:t>Stationary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小区域的均值相近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/>
              <a:t>e.g.</a:t>
            </a:r>
            <a:r>
              <a:rPr lang="zh-CN" altLang="en-US" dirty="0"/>
              <a:t>，区域整体存在下降趋势</a:t>
            </a:r>
            <a:r>
              <a:rPr lang="en-US" altLang="zh-CN" dirty="0"/>
              <a:t>——</a:t>
            </a:r>
            <a:r>
              <a:rPr lang="zh-CN" altLang="en-US" dirty="0"/>
              <a:t>强的低频信号（背景），淹没高频信号（目标信息）</a:t>
            </a:r>
            <a:endParaRPr lang="en-US" altLang="zh-CN" dirty="0"/>
          </a:p>
          <a:p>
            <a:pPr lvl="1"/>
            <a:r>
              <a:rPr lang="zh-CN" altLang="en-US" dirty="0"/>
              <a:t>小区域的方差相近</a:t>
            </a:r>
            <a:endParaRPr lang="en-US" altLang="zh-CN" sz="2000" dirty="0"/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zh-CN" altLang="en-US" b="1" dirty="0"/>
              <a:t>严格周期性</a:t>
            </a:r>
            <a:r>
              <a:rPr lang="en-US" altLang="zh-CN" dirty="0"/>
              <a:t>——</a:t>
            </a:r>
            <a:r>
              <a:rPr lang="zh-CN" altLang="en-US" dirty="0"/>
              <a:t>延拓</a:t>
            </a:r>
            <a:endParaRPr lang="en-US" altLang="zh-CN" dirty="0"/>
          </a:p>
          <a:p>
            <a:pPr lvl="1"/>
            <a:r>
              <a:rPr lang="zh-CN" altLang="en-US" sz="2800" dirty="0"/>
              <a:t>非周期数据：频谱泄露</a:t>
            </a:r>
            <a:endParaRPr lang="en-US" altLang="zh-CN" sz="2800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zh-CN" altLang="en-US" sz="2400" dirty="0"/>
              <a:t>加窗（</a:t>
            </a:r>
            <a:r>
              <a:rPr lang="en-US" altLang="zh-CN" sz="2400" dirty="0"/>
              <a:t>Hann</a:t>
            </a:r>
            <a:r>
              <a:rPr lang="zh-CN" altLang="en-US" sz="2400" dirty="0"/>
              <a:t>窗）</a:t>
            </a:r>
            <a:endParaRPr lang="en-US" altLang="zh-CN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FFF6395-3219-4440-8A40-70553F5CFB8F}"/>
              </a:ext>
            </a:extLst>
          </p:cNvPr>
          <p:cNvSpPr txBox="1"/>
          <p:nvPr/>
        </p:nvSpPr>
        <p:spPr>
          <a:xfrm>
            <a:off x="4867924" y="1548024"/>
            <a:ext cx="7223462" cy="14465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论文在这里（对应</a:t>
            </a:r>
            <a:r>
              <a:rPr lang="en-US" altLang="zh-CN" sz="1600" dirty="0"/>
              <a:t>2.2</a:t>
            </a:r>
            <a:r>
              <a:rPr lang="zh-CN" altLang="en-US" sz="1600" dirty="0"/>
              <a:t>节）存在错误：</a:t>
            </a:r>
            <a:endParaRPr lang="en-US" altLang="zh-CN" sz="1600" dirty="0"/>
          </a:p>
          <a:p>
            <a:r>
              <a:rPr lang="zh-CN" altLang="en-US" dirty="0"/>
              <a:t>误将</a:t>
            </a:r>
            <a:r>
              <a:rPr lang="zh-CN" altLang="en-US" b="1" dirty="0"/>
              <a:t>随机信号平稳过程的弱平稳条件</a:t>
            </a:r>
            <a:r>
              <a:rPr lang="zh-CN" altLang="en-US" dirty="0"/>
              <a:t>解释为傅里叶变换对数据的要求。</a:t>
            </a:r>
            <a:endParaRPr lang="en-US" altLang="zh-CN" dirty="0"/>
          </a:p>
          <a:p>
            <a:r>
              <a:rPr lang="zh-CN" altLang="en-US" b="1" dirty="0"/>
              <a:t>随机信号</a:t>
            </a:r>
            <a:r>
              <a:rPr lang="zh-CN" altLang="en-US" dirty="0"/>
              <a:t>：持续存在，能量无穷</a:t>
            </a:r>
            <a:r>
              <a:rPr lang="zh-CN" altLang="en-US" sz="1600" dirty="0"/>
              <a:t>（如背景噪声）</a:t>
            </a:r>
            <a:r>
              <a:rPr lang="en-US" altLang="zh-CN" dirty="0"/>
              <a:t>——</a:t>
            </a:r>
            <a:r>
              <a:rPr lang="zh-CN" altLang="en-US" dirty="0"/>
              <a:t>功率谱密度（</a:t>
            </a:r>
            <a:r>
              <a:rPr lang="en-US" altLang="zh-CN" b="1" dirty="0"/>
              <a:t>PDS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b="1" dirty="0"/>
              <a:t>平稳过程</a:t>
            </a:r>
            <a:r>
              <a:rPr lang="zh-CN" altLang="en-US" dirty="0"/>
              <a:t>：统计特征不随时间变化</a:t>
            </a:r>
            <a:endParaRPr lang="en-US" altLang="zh-CN" dirty="0"/>
          </a:p>
          <a:p>
            <a:r>
              <a:rPr lang="zh-CN" altLang="en-US" b="1" dirty="0"/>
              <a:t>弱平稳条件</a:t>
            </a:r>
            <a:r>
              <a:rPr lang="zh-CN" altLang="en-US" dirty="0"/>
              <a:t>：均值、方差不变，自相关函数只依赖于时间差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5F2C3F9-6804-4152-80CA-5043C8EC5A07}"/>
              </a:ext>
            </a:extLst>
          </p:cNvPr>
          <p:cNvCxnSpPr/>
          <p:nvPr/>
        </p:nvCxnSpPr>
        <p:spPr>
          <a:xfrm flipV="1">
            <a:off x="1438183" y="2370338"/>
            <a:ext cx="3107184" cy="31959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3F8BBBB-7D62-4EC9-8E16-A6941184939E}"/>
              </a:ext>
            </a:extLst>
          </p:cNvPr>
          <p:cNvCxnSpPr>
            <a:cxnSpLocks/>
          </p:cNvCxnSpPr>
          <p:nvPr/>
        </p:nvCxnSpPr>
        <p:spPr>
          <a:xfrm flipH="1" flipV="1">
            <a:off x="1438183" y="2388093"/>
            <a:ext cx="3107184" cy="31959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E53D23C3-5967-4B4D-9BED-9DCF316E2C64}"/>
              </a:ext>
            </a:extLst>
          </p:cNvPr>
          <p:cNvSpPr txBox="1"/>
          <p:nvPr/>
        </p:nvSpPr>
        <p:spPr>
          <a:xfrm>
            <a:off x="7563775" y="3601817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b="1" dirty="0"/>
              <a:t>去背景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7268686-74A4-4CFB-8B34-55FA9D42E966}"/>
              </a:ext>
            </a:extLst>
          </p:cNvPr>
          <p:cNvCxnSpPr>
            <a:cxnSpLocks/>
          </p:cNvCxnSpPr>
          <p:nvPr/>
        </p:nvCxnSpPr>
        <p:spPr>
          <a:xfrm flipH="1" flipV="1">
            <a:off x="1342008" y="3543831"/>
            <a:ext cx="3107184" cy="31959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B424B11-9874-4C7C-AA20-6FCB4F8D673A}"/>
              </a:ext>
            </a:extLst>
          </p:cNvPr>
          <p:cNvCxnSpPr/>
          <p:nvPr/>
        </p:nvCxnSpPr>
        <p:spPr>
          <a:xfrm flipV="1">
            <a:off x="1342008" y="3543831"/>
            <a:ext cx="3107184" cy="31959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20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201E73-EADD-4314-A9B0-205737E85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FFT</a:t>
            </a:r>
            <a:r>
              <a:rPr lang="zh-CN" altLang="en-US" dirty="0"/>
              <a:t>处理</a:t>
            </a:r>
            <a:r>
              <a:rPr lang="en-US" altLang="zh-CN" dirty="0"/>
              <a:t>DEM</a:t>
            </a:r>
            <a:r>
              <a:rPr lang="zh-CN" altLang="en-US" dirty="0"/>
              <a:t>数据：结果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BBB5A06-9DB8-4ACB-A504-E4DD6596C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16" y="1402434"/>
            <a:ext cx="5717303" cy="505981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706BB74-CFB8-4C2D-B3D7-075D0B99F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701" y="1540838"/>
            <a:ext cx="3376149" cy="466465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240CBED-3796-47F9-AE42-E53A026D9F99}"/>
              </a:ext>
            </a:extLst>
          </p:cNvPr>
          <p:cNvSpPr txBox="1"/>
          <p:nvPr/>
        </p:nvSpPr>
        <p:spPr>
          <a:xfrm>
            <a:off x="7184701" y="6262191"/>
            <a:ext cx="36904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滤波，重建周期性的地貌单元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1B9A6B9-FA1D-43AD-909A-FE2D70DE22B3}"/>
              </a:ext>
            </a:extLst>
          </p:cNvPr>
          <p:cNvSpPr txBox="1"/>
          <p:nvPr/>
        </p:nvSpPr>
        <p:spPr>
          <a:xfrm>
            <a:off x="0" y="3808786"/>
            <a:ext cx="1432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识别频谱滚降的转折点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4104A4F-5C29-48D0-9B5B-21D88C62745E}"/>
              </a:ext>
            </a:extLst>
          </p:cNvPr>
          <p:cNvSpPr txBox="1"/>
          <p:nvPr/>
        </p:nvSpPr>
        <p:spPr>
          <a:xfrm>
            <a:off x="5845290" y="4989251"/>
            <a:ext cx="786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滤波边界</a:t>
            </a:r>
          </a:p>
        </p:txBody>
      </p:sp>
    </p:spTree>
    <p:extLst>
      <p:ext uri="{BB962C8B-B14F-4D97-AF65-F5344CB8AC3E}">
        <p14:creationId xmlns:p14="http://schemas.microsoft.com/office/powerpoint/2010/main" val="262863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默认字体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454</Words>
  <Application>Microsoft Office PowerPoint</Application>
  <PresentationFormat>宽屏</PresentationFormat>
  <Paragraphs>71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Arial</vt:lpstr>
      <vt:lpstr>Cambria Math</vt:lpstr>
      <vt:lpstr>Times New Roman</vt:lpstr>
      <vt:lpstr>Wingdings</vt:lpstr>
      <vt:lpstr>Office 主题​​</vt:lpstr>
      <vt:lpstr>FFT在DEM数据处理的应用</vt:lpstr>
      <vt:lpstr>FFT</vt:lpstr>
      <vt:lpstr>空间二维-DFT</vt:lpstr>
      <vt:lpstr>FFT处理DEM数据：例子</vt:lpstr>
      <vt:lpstr>FFT处理DEM数据：数据预处理</vt:lpstr>
      <vt:lpstr>FFT处理DEM数据：数据预处理</vt:lpstr>
      <vt:lpstr>FFT处理DEM数据：结果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FFT在DEM数据处理的应用</dc:title>
  <dc:creator>DANWEN MAO</dc:creator>
  <cp:lastModifiedBy>DANWEN MAO</cp:lastModifiedBy>
  <cp:revision>11</cp:revision>
  <dcterms:created xsi:type="dcterms:W3CDTF">2025-11-19T11:37:41Z</dcterms:created>
  <dcterms:modified xsi:type="dcterms:W3CDTF">2025-11-19T13:54:36Z</dcterms:modified>
</cp:coreProperties>
</file>