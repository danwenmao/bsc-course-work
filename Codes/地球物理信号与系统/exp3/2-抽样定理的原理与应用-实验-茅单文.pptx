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A4EC1-AA72-4811-A20A-ECFE58577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8B9265-91C6-4F62-8506-912FEA0F9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0254ED-7E73-4C0A-954B-571CDCBD7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96C4-6349-4523-A996-B3A85275492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837051-700A-435F-9DB7-D2AD8D92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0D145D-1116-4112-9E0B-2436D3BB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82C2-CF1E-420D-AB59-9C68699D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7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9D0C6-2F91-4097-8941-F41B02092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137BAD-3092-4728-92C3-E1B4FC4E3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6D346B-5DE2-403F-95F2-880F22ECB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96C4-6349-4523-A996-B3A85275492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F6FA0B-F371-4DA6-B5B0-8CA5F7A4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79D9CE-C09A-41F7-BEE1-8B284B3D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82C2-CF1E-420D-AB59-9C68699D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61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1EDB5-D627-4563-9AA9-8C179D701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A1D77A-3C1E-484A-9DA7-2CBDE435F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A01618-966C-486F-AF20-2018EBA94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96C4-6349-4523-A996-B3A85275492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D91268-DE68-4F5F-B921-85C49EA3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F44780-43B2-4EF2-B038-D13FB1637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82C2-CF1E-420D-AB59-9C68699D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115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021E1C-BBFA-48DB-B7E6-081B98459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02AD82-A493-417B-BFE6-BD192ADF2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EEB929-0661-4C55-B05C-BC3574B6B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4347A7-541A-4EDA-AA94-40138B57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96C4-6349-4523-A996-B3A85275492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8C08EC-A2BF-417A-9EFA-8864EB4F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25A7EF-5EE3-4374-95D8-7BA36FFA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82C2-CF1E-420D-AB59-9C68699D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985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8B847-4164-4B37-A628-15B2057FE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859508-20D5-4A4D-87FD-DACDF3191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E7C314-0632-4F0D-9782-7AEA3FFD1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721CD2-6667-4BF0-AC3B-2B704157F5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A8DEA8-6F1D-4639-B4E4-CC6B89637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974334-7F9E-4A1F-8051-E344FA52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96C4-6349-4523-A996-B3A85275492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04CDFC-C0F5-46E5-895B-495F01F09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A8F8715-BC49-44A1-B080-A38E97E0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82C2-CF1E-420D-AB59-9C68699D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398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8C015-0564-452B-9D9F-24AF40B38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103C34-8315-4ED2-9C15-221309927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96C4-6349-4523-A996-B3A85275492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02F98F-FE58-40F7-926E-F87D1B75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896348-8AF4-4ADA-A99F-2F121733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82C2-CF1E-420D-AB59-9C68699D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017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7A4292-1B85-42E2-B2F1-B8A7E2078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96C4-6349-4523-A996-B3A85275492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7E1600-B8E9-49DB-846D-99EBF53A7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7B572A-0060-4686-8840-EC9551CA7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82C2-CF1E-420D-AB59-9C68699D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005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08BF39-45B0-486C-8FE1-75EB3AE50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6A3EE6-A67F-444F-83A2-2463236E5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E2188F-0349-4D2B-A096-10BC74534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FDFCA6-1199-4A29-8B98-C8D2F7CAF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96C4-6349-4523-A996-B3A85275492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D192E9-44B0-48D3-9ED0-718C6D46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CCB153-B34A-4DBE-86C5-E9AF8883C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82C2-CF1E-420D-AB59-9C68699D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30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C7D7DB-5F33-4203-8B84-A156E3ED6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FCBB05-73DF-4CF7-9F08-F5801755A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FFF107-D15A-4972-9E5A-A954CFA74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527606-D6DB-4C61-BA1A-F729679FE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96C4-6349-4523-A996-B3A85275492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788518-C7C4-4E37-BEC2-77DC4E80C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49D140-1F37-48E9-AA8F-ADF7FE68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82C2-CF1E-420D-AB59-9C68699D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1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5D3DF-F41A-4784-BE54-49EC80B8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3BB109-38A5-40DE-891F-B32AE8840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51D0A6-A9A4-46FA-9166-99B5652D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96C4-6349-4523-A996-B3A85275492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02A078-D71A-4C67-8026-B9C093E0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68BAFA-E1B5-4A99-971D-CCFDF271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82C2-CF1E-420D-AB59-9C68699D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34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BC7006-E7FF-46F0-8D52-A3DB97013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48A907-5DC5-49D9-88C6-044A58A8D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EAF8F6-D816-4E12-B43C-A205D5875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96C4-6349-4523-A996-B3A85275492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C1820E-F10D-4B5B-8E79-9C4269BD0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5D44CD-A286-479F-8413-A0BBD7B4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82C2-CF1E-420D-AB59-9C68699D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33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9B16E9-9C33-4E39-A8BE-0E0B4BB6B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9451A-F79E-404A-A806-825074057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0A6215-C3D3-4416-88E5-4C28FD07A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C96C4-6349-4523-A996-B3A85275492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81CB10-37F8-4871-AEFC-4C71B92BB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ECF68-4920-4539-ACE6-2E8D4AC0E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282C2-CF1E-420D-AB59-9C68699D6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394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CDBF7E-4198-4DE7-BA28-36BCADAB4D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抽样定理的内容和应用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BA398A-8F54-4303-BEE3-C238817DF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茅单文 </a:t>
            </a:r>
            <a:r>
              <a:rPr lang="en-US" altLang="zh-CN" dirty="0"/>
              <a:t>231830128</a:t>
            </a:r>
          </a:p>
          <a:p>
            <a:r>
              <a:rPr lang="en-US" altLang="zh-CN" dirty="0"/>
              <a:t>2025/10/30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6316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1ED21-0F14-4E78-9C75-59986BDE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波形图，频谱图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2B85313-DCE7-4262-AB6E-2310EB22288E}"/>
                  </a:ext>
                </a:extLst>
              </p:cNvPr>
              <p:cNvSpPr txBox="1"/>
              <p:nvPr/>
            </p:nvSpPr>
            <p:spPr>
              <a:xfrm>
                <a:off x="838200" y="2374301"/>
                <a:ext cx="47397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+2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⁡(80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2B85313-DCE7-4262-AB6E-2310EB222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74301"/>
                <a:ext cx="4739780" cy="369332"/>
              </a:xfrm>
              <a:prstGeom prst="rect">
                <a:avLst/>
              </a:prstGeom>
              <a:blipFill>
                <a:blip r:embed="rId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BEA2C6D-9801-4058-9F67-1DE867DDF77E}"/>
                  </a:ext>
                </a:extLst>
              </p:cNvPr>
              <p:cNvSpPr txBox="1"/>
              <p:nvPr/>
            </p:nvSpPr>
            <p:spPr>
              <a:xfrm>
                <a:off x="838200" y="3525419"/>
                <a:ext cx="4631422" cy="910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−10</m:t>
                                  </m:r>
                                </m:e>
                              </m:d>
                            </m:e>
                          </m:func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+2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+20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+2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+3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+40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+3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−40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BEA2C6D-9801-4058-9F67-1DE867DDF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25419"/>
                <a:ext cx="4631422" cy="910955"/>
              </a:xfrm>
              <a:prstGeom prst="rect">
                <a:avLst/>
              </a:prstGeom>
              <a:blipFill>
                <a:blip r:embed="rId3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0EEA19CA-7718-4D83-B4CA-CCAF73EE2167}"/>
              </a:ext>
            </a:extLst>
          </p:cNvPr>
          <p:cNvSpPr txBox="1"/>
          <p:nvPr/>
        </p:nvSpPr>
        <p:spPr>
          <a:xfrm>
            <a:off x="906011" y="3195977"/>
            <a:ext cx="463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离散傅里叶变换：自变量</a:t>
            </a:r>
            <a:r>
              <a:rPr lang="zh-CN" altLang="en-US" b="1" dirty="0"/>
              <a:t>频率</a:t>
            </a:r>
            <a:r>
              <a:rPr lang="zh-CN" altLang="en-US" dirty="0"/>
              <a:t>，不是角频率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BA14DA2-02E5-4425-BA62-6457227BB1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7433" y="1823203"/>
            <a:ext cx="6722378" cy="504178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F80B0DA-61D3-4FAA-9FEA-4192A05F0A03}"/>
              </a:ext>
            </a:extLst>
          </p:cNvPr>
          <p:cNvSpPr txBox="1"/>
          <p:nvPr/>
        </p:nvSpPr>
        <p:spPr>
          <a:xfrm>
            <a:off x="906011" y="5095292"/>
            <a:ext cx="3833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???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3661353-8A09-4045-9E85-5FA25802DAA2}"/>
              </a:ext>
            </a:extLst>
          </p:cNvPr>
          <p:cNvSpPr txBox="1"/>
          <p:nvPr/>
        </p:nvSpPr>
        <p:spPr>
          <a:xfrm>
            <a:off x="6096000" y="119965"/>
            <a:ext cx="5472418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effectLst/>
                <a:latin typeface="Menlo"/>
              </a:rPr>
              <a:t>tt0=0;tt1=1;dt=1e-5; t0=tt0:dt</a:t>
            </a:r>
            <a:r>
              <a:rPr lang="en-US" altLang="zh-CN" sz="1400" b="0" i="0">
                <a:effectLst/>
                <a:latin typeface="Menlo"/>
              </a:rPr>
              <a:t>:tt1-dt;</a:t>
            </a:r>
            <a:endParaRPr lang="en-US" altLang="zh-CN" sz="1400" b="0" i="0" dirty="0">
              <a:effectLst/>
              <a:latin typeface="Menlo"/>
            </a:endParaRPr>
          </a:p>
          <a:p>
            <a:r>
              <a:rPr lang="en-US" altLang="zh-CN" sz="1400" b="0" i="0" dirty="0">
                <a:effectLst/>
                <a:latin typeface="Menlo"/>
              </a:rPr>
              <a:t>x=sin(20*pi*t0)+2*sin(40*pi*t0)+3*sin(80*pi*t0);</a:t>
            </a:r>
          </a:p>
          <a:p>
            <a:r>
              <a:rPr lang="en-US" altLang="zh-CN" sz="1400" b="0" i="0" dirty="0">
                <a:effectLst/>
                <a:latin typeface="Menlo"/>
              </a:rPr>
              <a:t>X=</a:t>
            </a:r>
            <a:r>
              <a:rPr lang="en-US" altLang="zh-CN" sz="1400" b="0" i="0" dirty="0" err="1">
                <a:effectLst/>
                <a:latin typeface="Menlo"/>
              </a:rPr>
              <a:t>fft</a:t>
            </a:r>
            <a:r>
              <a:rPr lang="en-US" altLang="zh-CN" sz="1400" b="0" i="0" dirty="0">
                <a:effectLst/>
                <a:latin typeface="Menlo"/>
              </a:rPr>
              <a:t>(x);</a:t>
            </a:r>
            <a:r>
              <a:rPr lang="en-US" altLang="zh-CN" sz="1400" dirty="0">
                <a:latin typeface="Menlo"/>
              </a:rPr>
              <a:t> </a:t>
            </a:r>
            <a:r>
              <a:rPr lang="en-US" altLang="zh-CN" sz="1400" b="0" i="0" dirty="0">
                <a:effectLst/>
                <a:latin typeface="Menlo"/>
              </a:rPr>
              <a:t>N=length(X);</a:t>
            </a:r>
          </a:p>
          <a:p>
            <a:r>
              <a:rPr lang="en-US" altLang="zh-CN" sz="1400" b="0" i="0" dirty="0">
                <a:effectLst/>
                <a:latin typeface="Menlo"/>
              </a:rPr>
              <a:t>fs=1/dt; df=fs/(N-1); 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频率分辨率（为什么？）</a:t>
            </a:r>
            <a:endParaRPr lang="zh-CN" altLang="en-US" sz="1400" b="0" i="0" dirty="0">
              <a:effectLst/>
              <a:latin typeface="Menlo"/>
            </a:endParaRPr>
          </a:p>
          <a:p>
            <a:r>
              <a:rPr lang="en-US" altLang="zh-CN" sz="1400" b="0" i="0" dirty="0">
                <a:effectLst/>
                <a:latin typeface="Menlo"/>
              </a:rPr>
              <a:t>f=-N/2:df:(N/2-1); 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频率区间</a:t>
            </a:r>
            <a:endParaRPr lang="zh-CN" altLang="en-US" sz="1400" b="0" i="0" dirty="0">
              <a:effectLst/>
              <a:latin typeface="Menlo"/>
            </a:endParaRPr>
          </a:p>
          <a:p>
            <a:r>
              <a:rPr lang="en-US" altLang="zh-CN" sz="1400" b="0" i="0" dirty="0" err="1">
                <a:effectLst/>
                <a:latin typeface="Menlo"/>
              </a:rPr>
              <a:t>X_shift</a:t>
            </a:r>
            <a:r>
              <a:rPr lang="en-US" altLang="zh-CN" sz="1400" b="0" i="0" dirty="0">
                <a:effectLst/>
                <a:latin typeface="Menlo"/>
              </a:rPr>
              <a:t>=</a:t>
            </a:r>
            <a:r>
              <a:rPr lang="en-US" altLang="zh-CN" sz="1400" b="0" i="0" dirty="0" err="1">
                <a:effectLst/>
                <a:latin typeface="Menlo"/>
              </a:rPr>
              <a:t>fftshift</a:t>
            </a:r>
            <a:r>
              <a:rPr lang="en-US" altLang="zh-CN" sz="1400" b="0" i="0" dirty="0">
                <a:effectLst/>
                <a:latin typeface="Menlo"/>
              </a:rPr>
              <a:t>(X);</a:t>
            </a:r>
          </a:p>
          <a:p>
            <a:r>
              <a:rPr lang="en-US" altLang="zh-CN" sz="1400" b="0" i="0" dirty="0">
                <a:effectLst/>
                <a:latin typeface="Menlo"/>
              </a:rPr>
              <a:t>Amp=abs(</a:t>
            </a:r>
            <a:r>
              <a:rPr lang="en-US" altLang="zh-CN" sz="1400" b="0" i="0" dirty="0" err="1">
                <a:effectLst/>
                <a:latin typeface="Menlo"/>
              </a:rPr>
              <a:t>X_shift</a:t>
            </a:r>
            <a:r>
              <a:rPr lang="en-US" altLang="zh-CN" sz="1400" b="0" i="0" dirty="0">
                <a:effectLst/>
                <a:latin typeface="Menlo"/>
              </a:rPr>
              <a:t>)/N; 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MATLAB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的</a:t>
            </a:r>
            <a:r>
              <a:rPr lang="en-US" altLang="zh-CN" sz="1400" b="0" i="0" dirty="0" err="1">
                <a:solidFill>
                  <a:srgbClr val="008013"/>
                </a:solidFill>
                <a:effectLst/>
                <a:latin typeface="Menlo"/>
              </a:rPr>
              <a:t>fft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()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结果恢复</a:t>
            </a:r>
            <a:endParaRPr lang="zh-CN" altLang="en-US" sz="1400" b="0" i="0" dirty="0">
              <a:effectLst/>
              <a:latin typeface="Menlo"/>
            </a:endParaRPr>
          </a:p>
          <a:p>
            <a:r>
              <a:rPr lang="en-US" altLang="zh-CN" sz="1400" b="0" i="0" dirty="0">
                <a:effectLst/>
                <a:latin typeface="Menlo"/>
              </a:rPr>
              <a:t>Phase=angle(</a:t>
            </a:r>
            <a:r>
              <a:rPr lang="en-US" altLang="zh-CN" sz="1400" b="0" i="0" dirty="0" err="1">
                <a:effectLst/>
                <a:latin typeface="Menlo"/>
              </a:rPr>
              <a:t>X_shift</a:t>
            </a:r>
            <a:r>
              <a:rPr lang="en-US" altLang="zh-CN" sz="1400" b="0" i="0" dirty="0">
                <a:effectLst/>
                <a:latin typeface="Menlo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492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F15A7-0570-465F-8782-BFC29ABA6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抽样定理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DEA4BA-9C99-4E78-8326-A528836FEFB6}"/>
              </a:ext>
            </a:extLst>
          </p:cNvPr>
          <p:cNvSpPr txBox="1"/>
          <p:nvPr/>
        </p:nvSpPr>
        <p:spPr>
          <a:xfrm>
            <a:off x="838200" y="1229896"/>
            <a:ext cx="54283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function</a:t>
            </a:r>
            <a:r>
              <a:rPr lang="en-US" altLang="zh-CN" sz="1400" b="0" i="0" dirty="0">
                <a:effectLst/>
                <a:latin typeface="Menlo"/>
              </a:rPr>
              <a:t>[</a:t>
            </a:r>
            <a:r>
              <a:rPr lang="en-US" altLang="zh-CN" sz="1400" b="0" i="0" dirty="0" err="1">
                <a:effectLst/>
                <a:latin typeface="Menlo"/>
              </a:rPr>
              <a:t>t,x_s,h_s,x_filter</a:t>
            </a:r>
            <a:r>
              <a:rPr lang="en-US" altLang="zh-CN" sz="1400" b="0" i="0" dirty="0">
                <a:effectLst/>
                <a:latin typeface="Menlo"/>
              </a:rPr>
              <a:t>]=</a:t>
            </a:r>
            <a:r>
              <a:rPr lang="en-US" altLang="zh-CN" sz="1400" b="0" i="0" dirty="0" err="1">
                <a:effectLst/>
                <a:latin typeface="Menlo"/>
              </a:rPr>
              <a:t>my_sample_signal</a:t>
            </a:r>
            <a:r>
              <a:rPr lang="en-US" altLang="zh-CN" sz="1400" b="0" i="0" dirty="0">
                <a:effectLst/>
                <a:latin typeface="Menlo"/>
              </a:rPr>
              <a:t>(tt0,tt1,t0,x0,fs,fc)</a:t>
            </a:r>
          </a:p>
          <a:p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fs: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采样频率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; fc: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截止频率</a:t>
            </a:r>
            <a:endParaRPr lang="zh-CN" altLang="en-US" sz="1400" b="0" i="0" dirty="0">
              <a:effectLst/>
              <a:latin typeface="Menlo"/>
            </a:endParaRPr>
          </a:p>
          <a:p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t: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时间轴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; </a:t>
            </a:r>
            <a:r>
              <a:rPr lang="en-US" altLang="zh-CN" sz="1400" b="0" i="0" dirty="0" err="1">
                <a:solidFill>
                  <a:srgbClr val="008013"/>
                </a:solidFill>
                <a:effectLst/>
                <a:latin typeface="Menlo"/>
              </a:rPr>
              <a:t>x_s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: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采样信号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; </a:t>
            </a:r>
            <a:r>
              <a:rPr lang="en-US" altLang="zh-CN" sz="1400" b="0" i="0" dirty="0" err="1">
                <a:solidFill>
                  <a:srgbClr val="008013"/>
                </a:solidFill>
                <a:effectLst/>
                <a:latin typeface="Menlo"/>
              </a:rPr>
              <a:t>h_s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: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低通滤波器（时域）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; </a:t>
            </a:r>
            <a:r>
              <a:rPr lang="en-US" altLang="zh-CN" sz="1400" b="0" i="0" dirty="0" err="1">
                <a:solidFill>
                  <a:srgbClr val="008013"/>
                </a:solidFill>
                <a:effectLst/>
                <a:latin typeface="Menlo"/>
              </a:rPr>
              <a:t>x_filter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: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重建信号</a:t>
            </a:r>
            <a:endParaRPr lang="zh-CN" altLang="en-US" sz="1400" b="0" i="0" dirty="0">
              <a:effectLst/>
              <a:latin typeface="Menlo"/>
            </a:endParaRPr>
          </a:p>
          <a:p>
            <a:r>
              <a:rPr lang="en-US" altLang="zh-CN" sz="1400" b="0" i="0" dirty="0">
                <a:effectLst/>
                <a:latin typeface="Menlo"/>
              </a:rPr>
              <a:t>dt=1/fs;</a:t>
            </a:r>
          </a:p>
          <a:p>
            <a:r>
              <a:rPr lang="en-US" altLang="zh-CN" sz="1400" b="0" i="0" dirty="0" err="1">
                <a:effectLst/>
                <a:latin typeface="Menlo"/>
              </a:rPr>
              <a:t>t_offset</a:t>
            </a:r>
            <a:r>
              <a:rPr lang="en-US" altLang="zh-CN" sz="1400" b="0" i="0" dirty="0">
                <a:effectLst/>
                <a:latin typeface="Menlo"/>
              </a:rPr>
              <a:t>=dt/8;</a:t>
            </a:r>
          </a:p>
          <a:p>
            <a:r>
              <a:rPr lang="en-US" altLang="zh-CN" sz="1400" b="0" i="0" dirty="0">
                <a:effectLst/>
                <a:latin typeface="Menlo"/>
              </a:rPr>
              <a:t>t=tt0+t_offset:dt:tt1-dt;</a:t>
            </a:r>
          </a:p>
          <a:p>
            <a:r>
              <a:rPr lang="en-US" altLang="zh-CN" sz="1400" b="0" i="0" dirty="0" err="1">
                <a:effectLst/>
                <a:latin typeface="Menlo"/>
              </a:rPr>
              <a:t>x_s</a:t>
            </a:r>
            <a:r>
              <a:rPr lang="en-US" altLang="zh-CN" sz="1400" b="0" i="0" dirty="0">
                <a:effectLst/>
                <a:latin typeface="Menlo"/>
              </a:rPr>
              <a:t>=sin(20*pi*t)+2*sin(40*pi*t)+3*sin(80*pi*t); 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抽样信号</a:t>
            </a:r>
            <a:endParaRPr lang="zh-CN" altLang="en-US" sz="1400" b="0" i="0" dirty="0">
              <a:effectLst/>
              <a:latin typeface="Menlo"/>
            </a:endParaRPr>
          </a:p>
          <a:p>
            <a:r>
              <a:rPr lang="en-US" altLang="zh-CN" sz="1400" b="0" i="0" dirty="0">
                <a:effectLst/>
                <a:latin typeface="Menlo"/>
              </a:rPr>
              <a:t>X_s=</a:t>
            </a:r>
            <a:r>
              <a:rPr lang="en-US" altLang="zh-CN" sz="1400" b="0" i="0" dirty="0" err="1">
                <a:effectLst/>
                <a:latin typeface="Menlo"/>
              </a:rPr>
              <a:t>fft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 err="1">
                <a:effectLst/>
                <a:latin typeface="Menlo"/>
              </a:rPr>
              <a:t>x_s</a:t>
            </a:r>
            <a:r>
              <a:rPr lang="en-US" altLang="zh-CN" sz="1400" b="0" i="0" dirty="0">
                <a:effectLst/>
                <a:latin typeface="Menlo"/>
              </a:rPr>
              <a:t>); 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抽样信号频谱</a:t>
            </a:r>
            <a:endParaRPr lang="zh-CN" altLang="en-US" sz="1400" b="0" i="0" dirty="0">
              <a:effectLst/>
              <a:latin typeface="Menlo"/>
            </a:endParaRPr>
          </a:p>
          <a:p>
            <a:r>
              <a:rPr lang="en-US" altLang="zh-CN" sz="1400" b="0" i="0" dirty="0">
                <a:effectLst/>
                <a:latin typeface="Menlo"/>
              </a:rPr>
              <a:t>N=length(X_s);</a:t>
            </a:r>
            <a:br>
              <a:rPr lang="en-US" altLang="zh-CN" sz="1400" b="0" i="0" dirty="0">
                <a:effectLst/>
                <a:latin typeface="Menlo"/>
              </a:rPr>
            </a:br>
            <a:endParaRPr lang="en-US" altLang="zh-CN" sz="1400" b="0" i="0" dirty="0">
              <a:effectLst/>
              <a:latin typeface="Menlo"/>
            </a:endParaRPr>
          </a:p>
          <a:p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抽样信号幅度频谱</a:t>
            </a:r>
            <a:endParaRPr lang="zh-CN" altLang="en-US" sz="1400" b="0" i="0" dirty="0">
              <a:effectLst/>
              <a:latin typeface="Menlo"/>
            </a:endParaRPr>
          </a:p>
          <a:p>
            <a:r>
              <a:rPr lang="en-US" altLang="zh-CN" sz="1400" b="0" i="0" dirty="0" err="1">
                <a:effectLst/>
                <a:latin typeface="Menlo"/>
              </a:rPr>
              <a:t>f_sym</a:t>
            </a:r>
            <a:r>
              <a:rPr lang="en-US" altLang="zh-CN" sz="1400" b="0" i="0" dirty="0">
                <a:effectLst/>
                <a:latin typeface="Menlo"/>
              </a:rPr>
              <a:t> =-N/2:fs/N:N/2-1; 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highlight>
                  <a:srgbClr val="FFFF00"/>
                </a:highlight>
                <a:latin typeface="Menlo"/>
              </a:rPr>
              <a:t>关于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highlight>
                  <a:srgbClr val="FFFF00"/>
                </a:highlight>
                <a:latin typeface="Menlo"/>
              </a:rPr>
              <a:t>x=0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highlight>
                  <a:srgbClr val="FFFF00"/>
                </a:highlight>
                <a:latin typeface="Menlo"/>
              </a:rPr>
              <a:t>对称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的频率轴</a:t>
            </a:r>
            <a:endParaRPr lang="zh-CN" altLang="en-US" sz="1400" b="0" i="0" dirty="0">
              <a:effectLst/>
              <a:latin typeface="Menlo"/>
            </a:endParaRPr>
          </a:p>
          <a:p>
            <a:r>
              <a:rPr lang="en-US" altLang="zh-CN" sz="1400" b="0" i="0" dirty="0" err="1">
                <a:effectLst/>
                <a:latin typeface="Menlo"/>
              </a:rPr>
              <a:t>X_s_shift</a:t>
            </a:r>
            <a:r>
              <a:rPr lang="en-US" altLang="zh-CN" sz="1400" b="0" i="0" dirty="0">
                <a:effectLst/>
                <a:latin typeface="Menlo"/>
              </a:rPr>
              <a:t>=</a:t>
            </a:r>
            <a:r>
              <a:rPr lang="en-US" altLang="zh-CN" sz="1400" b="0" i="0" dirty="0" err="1">
                <a:effectLst/>
                <a:latin typeface="Menlo"/>
              </a:rPr>
              <a:t>fftshift</a:t>
            </a:r>
            <a:r>
              <a:rPr lang="en-US" altLang="zh-CN" sz="1400" b="0" i="0" dirty="0">
                <a:effectLst/>
                <a:latin typeface="Menlo"/>
              </a:rPr>
              <a:t>(X_s); 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平移至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highlight>
                  <a:srgbClr val="FFFF00"/>
                </a:highlight>
                <a:latin typeface="Menlo"/>
              </a:rPr>
              <a:t>关于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highlight>
                  <a:srgbClr val="FFFF00"/>
                </a:highlight>
                <a:latin typeface="Menlo"/>
              </a:rPr>
              <a:t>x=0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highlight>
                  <a:srgbClr val="FFFF00"/>
                </a:highlight>
                <a:latin typeface="Menlo"/>
              </a:rPr>
              <a:t>对称</a:t>
            </a:r>
            <a:endParaRPr lang="zh-CN" altLang="en-US" sz="1400" b="0" i="0" dirty="0">
              <a:effectLst/>
              <a:highlight>
                <a:srgbClr val="FFFF00"/>
              </a:highlight>
              <a:latin typeface="Menlo"/>
            </a:endParaRPr>
          </a:p>
          <a:p>
            <a:r>
              <a:rPr lang="en-US" altLang="zh-CN" sz="1400" b="0" i="0" dirty="0" err="1">
                <a:effectLst/>
                <a:latin typeface="Menlo"/>
              </a:rPr>
              <a:t>Amp_X_s</a:t>
            </a:r>
            <a:r>
              <a:rPr lang="en-US" altLang="zh-CN" sz="1400" b="0" i="0" dirty="0">
                <a:effectLst/>
                <a:latin typeface="Menlo"/>
              </a:rPr>
              <a:t>=abs(</a:t>
            </a:r>
            <a:r>
              <a:rPr lang="en-US" altLang="zh-CN" sz="1400" b="0" i="0" dirty="0" err="1">
                <a:effectLst/>
                <a:latin typeface="Menlo"/>
              </a:rPr>
              <a:t>X_s_shift</a:t>
            </a:r>
            <a:r>
              <a:rPr lang="en-US" altLang="zh-CN" sz="1400" b="0" i="0" dirty="0">
                <a:effectLst/>
                <a:latin typeface="Menlo"/>
              </a:rPr>
              <a:t>)/N;</a:t>
            </a:r>
          </a:p>
          <a:p>
            <a:endParaRPr lang="en-US" altLang="zh-CN" sz="1400" b="0" i="0" dirty="0">
              <a:effectLst/>
              <a:latin typeface="Menlo"/>
            </a:endParaRPr>
          </a:p>
          <a:p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频域低通滤波器</a:t>
            </a:r>
            <a:endParaRPr lang="zh-CN" altLang="en-US" sz="1400" b="0" i="0" dirty="0">
              <a:effectLst/>
              <a:latin typeface="Menlo"/>
            </a:endParaRPr>
          </a:p>
          <a:p>
            <a:r>
              <a:rPr lang="en-US" altLang="zh-CN" sz="1400" b="0" i="0" dirty="0">
                <a:effectLst/>
                <a:latin typeface="Menlo"/>
              </a:rPr>
              <a:t>f=(0:N-1)*(fs/N);</a:t>
            </a:r>
          </a:p>
          <a:p>
            <a:r>
              <a:rPr lang="en-US" altLang="zh-CN" sz="1400" b="0" i="0" dirty="0">
                <a:effectLst/>
                <a:latin typeface="Menlo"/>
              </a:rPr>
              <a:t>f(f &gt;= fs/2) = f(f &gt;= fs/2) - fs;</a:t>
            </a:r>
          </a:p>
          <a:p>
            <a:r>
              <a:rPr lang="en-US" altLang="zh-CN" sz="1400" b="0" i="0" dirty="0">
                <a:effectLst/>
                <a:latin typeface="Menlo"/>
              </a:rPr>
              <a:t>H=double(abs(f)&lt;=fc);</a:t>
            </a:r>
          </a:p>
          <a:p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时域低通滤波器</a:t>
            </a:r>
            <a:endParaRPr lang="zh-CN" altLang="en-US" sz="1400" b="0" i="0" dirty="0">
              <a:effectLst/>
              <a:latin typeface="Menlo"/>
            </a:endParaRPr>
          </a:p>
          <a:p>
            <a:r>
              <a:rPr lang="en-US" altLang="zh-CN" sz="1400" b="0" i="0" dirty="0" err="1">
                <a:effectLst/>
                <a:latin typeface="Menlo"/>
              </a:rPr>
              <a:t>h_s</a:t>
            </a:r>
            <a:r>
              <a:rPr lang="en-US" altLang="zh-CN" sz="1400" b="0" i="0" dirty="0">
                <a:effectLst/>
                <a:latin typeface="Menlo"/>
              </a:rPr>
              <a:t>=2*fc*</a:t>
            </a:r>
            <a:r>
              <a:rPr lang="en-US" altLang="zh-CN" sz="1400" b="0" i="0" dirty="0" err="1">
                <a:effectLst/>
                <a:latin typeface="Menlo"/>
              </a:rPr>
              <a:t>sinc</a:t>
            </a:r>
            <a:r>
              <a:rPr lang="en-US" altLang="zh-CN" sz="1400" b="0" i="0" dirty="0">
                <a:effectLst/>
                <a:latin typeface="Menlo"/>
              </a:rPr>
              <a:t>(2*fc*(t0-(tt0+tt1)/2)); 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en-US" altLang="zh-CN" sz="1400" b="0" i="0" dirty="0" err="1">
                <a:solidFill>
                  <a:srgbClr val="008013"/>
                </a:solidFill>
                <a:effectLst/>
                <a:latin typeface="Menlo"/>
              </a:rPr>
              <a:t>sinc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(x)=sin(pi*x)/(pi*x)</a:t>
            </a:r>
            <a:endParaRPr lang="en-US" altLang="zh-CN" sz="1400" b="0" i="0" dirty="0">
              <a:effectLst/>
              <a:latin typeface="Menlo"/>
            </a:endParaRPr>
          </a:p>
          <a:p>
            <a:endParaRPr lang="en-US" altLang="zh-CN" sz="1400" b="0" i="0" dirty="0">
              <a:effectLst/>
              <a:latin typeface="Menlo"/>
            </a:endParaRPr>
          </a:p>
          <a:p>
            <a:r>
              <a:rPr lang="en-US" altLang="zh-CN" sz="1400" b="0" i="0" dirty="0" err="1">
                <a:effectLst/>
                <a:latin typeface="Menlo"/>
              </a:rPr>
              <a:t>X_s_filter</a:t>
            </a:r>
            <a:r>
              <a:rPr lang="en-US" altLang="zh-CN" sz="1400" b="0" i="0" dirty="0">
                <a:effectLst/>
                <a:latin typeface="Menlo"/>
              </a:rPr>
              <a:t>=X_s.*H; 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重建信号</a:t>
            </a:r>
            <a:endParaRPr lang="zh-CN" altLang="en-US" sz="1400" b="0" i="0" dirty="0">
              <a:effectLst/>
              <a:latin typeface="Menlo"/>
            </a:endParaRPr>
          </a:p>
          <a:p>
            <a:r>
              <a:rPr lang="en-US" altLang="zh-CN" sz="1400" b="0" i="0" dirty="0" err="1">
                <a:effectLst/>
                <a:latin typeface="Menlo"/>
              </a:rPr>
              <a:t>x_filter</a:t>
            </a:r>
            <a:r>
              <a:rPr lang="en-US" altLang="zh-CN" sz="1400" b="0" i="0" dirty="0">
                <a:effectLst/>
                <a:latin typeface="Menlo"/>
              </a:rPr>
              <a:t>=</a:t>
            </a:r>
            <a:r>
              <a:rPr lang="en-US" altLang="zh-CN" sz="1400" b="0" i="0" dirty="0" err="1">
                <a:effectLst/>
                <a:latin typeface="Menlo"/>
              </a:rPr>
              <a:t>ifft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 err="1">
                <a:effectLst/>
                <a:latin typeface="Menlo"/>
              </a:rPr>
              <a:t>X_s_filter</a:t>
            </a:r>
            <a:r>
              <a:rPr lang="en-US" altLang="zh-CN" sz="1400" b="0" i="0" dirty="0">
                <a:effectLst/>
                <a:latin typeface="Menlo"/>
              </a:rPr>
              <a:t>);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2AFAC51-54A0-4185-A51E-FB86D90BF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0" r="8300"/>
          <a:stretch/>
        </p:blipFill>
        <p:spPr>
          <a:xfrm>
            <a:off x="5629013" y="2195541"/>
            <a:ext cx="6468611" cy="4120461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A3A638E-35E7-48AB-85F2-F00B24C9E88C}"/>
              </a:ext>
            </a:extLst>
          </p:cNvPr>
          <p:cNvCxnSpPr/>
          <p:nvPr/>
        </p:nvCxnSpPr>
        <p:spPr>
          <a:xfrm>
            <a:off x="5226341" y="2734811"/>
            <a:ext cx="629175" cy="59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38AB366-03F0-427C-A654-669C139DAF3C}"/>
              </a:ext>
            </a:extLst>
          </p:cNvPr>
          <p:cNvCxnSpPr>
            <a:cxnSpLocks/>
          </p:cNvCxnSpPr>
          <p:nvPr/>
        </p:nvCxnSpPr>
        <p:spPr>
          <a:xfrm>
            <a:off x="4483915" y="3861385"/>
            <a:ext cx="1145098" cy="224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54AE60E-B55D-4238-965E-0CC75CC865BB}"/>
              </a:ext>
            </a:extLst>
          </p:cNvPr>
          <p:cNvCxnSpPr>
            <a:cxnSpLocks/>
          </p:cNvCxnSpPr>
          <p:nvPr/>
        </p:nvCxnSpPr>
        <p:spPr>
          <a:xfrm flipV="1">
            <a:off x="3552388" y="4950210"/>
            <a:ext cx="2076625" cy="565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49E3E38-F449-4E09-8E7C-8285085B89FC}"/>
              </a:ext>
            </a:extLst>
          </p:cNvPr>
          <p:cNvCxnSpPr>
            <a:cxnSpLocks/>
          </p:cNvCxnSpPr>
          <p:nvPr/>
        </p:nvCxnSpPr>
        <p:spPr>
          <a:xfrm flipV="1">
            <a:off x="3058836" y="5721542"/>
            <a:ext cx="2712790" cy="618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19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4D26F-66FA-45CE-A365-AD4CEA6CC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抽样定理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377F9D-7459-42AD-84C5-60A6611CE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115" y="1434515"/>
            <a:ext cx="5615032" cy="42112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94EA754-653D-4DB8-8E7A-2E9E55D55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1148" y="1434515"/>
            <a:ext cx="5615032" cy="421127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C5A15E6-FA84-4449-9D9E-9733485DAE70}"/>
              </a:ext>
            </a:extLst>
          </p:cNvPr>
          <p:cNvSpPr txBox="1"/>
          <p:nvPr/>
        </p:nvSpPr>
        <p:spPr>
          <a:xfrm>
            <a:off x="8749719" y="5314210"/>
            <a:ext cx="864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10Hz</a:t>
            </a:r>
            <a:r>
              <a:rPr lang="zh-CN" altLang="en-US" sz="2400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07995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4D26F-66FA-45CE-A365-AD4CEA6CC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抽样定理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5A15E6-FA84-4449-9D9E-9733485DAE70}"/>
              </a:ext>
            </a:extLst>
          </p:cNvPr>
          <p:cNvSpPr txBox="1"/>
          <p:nvPr/>
        </p:nvSpPr>
        <p:spPr>
          <a:xfrm>
            <a:off x="3070372" y="5519397"/>
            <a:ext cx="864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10Hz</a:t>
            </a:r>
            <a:endParaRPr lang="zh-CN" altLang="en-US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032ACD9-A69A-4401-8EC6-F04E374EE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633197"/>
            <a:ext cx="5181600" cy="38862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E7E19BC-3DF4-4DDC-9013-26A3863B0EB8}"/>
              </a:ext>
            </a:extLst>
          </p:cNvPr>
          <p:cNvSpPr txBox="1"/>
          <p:nvPr/>
        </p:nvSpPr>
        <p:spPr>
          <a:xfrm>
            <a:off x="8045042" y="5502060"/>
            <a:ext cx="1803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t_offset</a:t>
            </a:r>
            <a:r>
              <a:rPr lang="en-US" altLang="zh-CN" sz="2400" dirty="0"/>
              <a:t>=dt/8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64643F-6D81-4423-AFA7-01E1973E3D06}"/>
              </a:ext>
            </a:extLst>
          </p:cNvPr>
          <p:cNvSpPr txBox="1"/>
          <p:nvPr/>
        </p:nvSpPr>
        <p:spPr>
          <a:xfrm>
            <a:off x="7776595" y="1263865"/>
            <a:ext cx="41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正的没有被采样！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A925A0D-6231-482D-A5AE-A0868F73C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1085" y="1694449"/>
            <a:ext cx="5094915" cy="382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48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4D26F-66FA-45CE-A365-AD4CEA6CC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抽样定理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620928-39CE-466C-8B00-7A305D6F0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306" y="1262301"/>
            <a:ext cx="5025705" cy="266990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E7E19BC-3DF4-4DDC-9013-26A3863B0EB8}"/>
              </a:ext>
            </a:extLst>
          </p:cNvPr>
          <p:cNvSpPr txBox="1"/>
          <p:nvPr/>
        </p:nvSpPr>
        <p:spPr>
          <a:xfrm>
            <a:off x="5117285" y="3198167"/>
            <a:ext cx="2004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t_offset</a:t>
            </a:r>
            <a:r>
              <a:rPr lang="en-US" altLang="zh-CN" sz="2400" dirty="0"/>
              <a:t>=dt/16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C56531-225E-4681-8C22-D9319C98A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306" y="3789594"/>
            <a:ext cx="5006761" cy="265984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5C41D5A-84D6-46FE-B896-0322913365E3}"/>
              </a:ext>
            </a:extLst>
          </p:cNvPr>
          <p:cNvSpPr txBox="1"/>
          <p:nvPr/>
        </p:nvSpPr>
        <p:spPr>
          <a:xfrm>
            <a:off x="5117285" y="5725460"/>
            <a:ext cx="2004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t_offset</a:t>
            </a:r>
            <a:r>
              <a:rPr lang="en-US" altLang="zh-CN" sz="2400" dirty="0"/>
              <a:t>=dt/32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61027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4D26F-66FA-45CE-A365-AD4CEA6CC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抽样定理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032ACD9-A69A-4401-8EC6-F04E374EE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5673" y="1728510"/>
            <a:ext cx="6938009" cy="36858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F620928-39CE-466C-8B00-7A305D6F0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1088" y="1690688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默认字体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538</Words>
  <Application>Microsoft Office PowerPoint</Application>
  <PresentationFormat>宽屏</PresentationFormat>
  <Paragraphs>50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Menlo</vt:lpstr>
      <vt:lpstr>Arial</vt:lpstr>
      <vt:lpstr>Cambria Math</vt:lpstr>
      <vt:lpstr>Times New Roman</vt:lpstr>
      <vt:lpstr>Office 主题​​</vt:lpstr>
      <vt:lpstr>抽样定理的内容和应用</vt:lpstr>
      <vt:lpstr>波形图，频谱图</vt:lpstr>
      <vt:lpstr>抽样定理</vt:lpstr>
      <vt:lpstr>抽样定理</vt:lpstr>
      <vt:lpstr>抽样定理</vt:lpstr>
      <vt:lpstr>抽样定理</vt:lpstr>
      <vt:lpstr>抽样定理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抽样定理的内容和应用</dc:title>
  <dc:creator>DANWEN MAO</dc:creator>
  <cp:lastModifiedBy>DANWEN MAO</cp:lastModifiedBy>
  <cp:revision>9</cp:revision>
  <dcterms:created xsi:type="dcterms:W3CDTF">2025-10-30T03:18:43Z</dcterms:created>
  <dcterms:modified xsi:type="dcterms:W3CDTF">2025-11-11T13:25:34Z</dcterms:modified>
</cp:coreProperties>
</file>