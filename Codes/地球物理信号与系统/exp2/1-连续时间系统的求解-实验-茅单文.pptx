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AD58E-6773-42E1-AFB5-A44358859352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CE5B-FCF4-41CB-8402-79D6A6D4A9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96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CE5B-FCF4-41CB-8402-79D6A6D4A95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746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ECE5B-FCF4-41CB-8402-79D6A6D4A95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705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08A4D0-D2A0-4B93-B9B8-16EF6FCEB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5E7F72-3DA8-4AB0-BD6C-DB24E6270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A8338-AF76-42DC-84F3-189227F74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1F633-3DEE-4EAD-BD7A-75AE6550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FF084-C10C-4AB5-9DA8-7B64182B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61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F0547-E852-4F07-B672-6B3C9B95F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7D1E2-9E21-4693-AA61-0EDD55B4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518DC-D382-41C7-B213-2B37C8A8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5CCA1D-F439-499F-AC7B-BDF49D8C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27008-CA7A-4E95-B0C7-5F6E4AAE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30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9748A-3826-4377-9E57-AE64322A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A60CB1-C1A5-4076-8189-5040521B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78FCB5-CD42-437D-A492-6400CFF9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A6552-8301-4633-8177-213F74DD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F2A59-19F1-4D46-AF4F-5E73FD85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80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BF569-596E-4BE2-85DB-1163E293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F09B16-E9C1-4485-8A8E-49C5D003B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D88287-EB52-4824-A58A-A0086489F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D888B-BD1F-4A31-8AB9-5E72C379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2E23C6-5353-4A72-A347-77223FEA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060E96-53B0-4BB8-B9B0-F13D3829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73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E758D-7B3C-4FB3-A2CC-0AA17AB3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4704AC-80F1-4BE9-84FF-750C29305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4166CD-080C-4ADF-AB76-2584E1C8F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803A48-C14D-4FEF-80C7-A5A86724BF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90D5D5-D107-4380-B539-1291948C3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063AF6-7651-4D5C-B686-BECBADC7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861108-A37C-4380-9F77-749BA157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24A546-FAA5-4871-98CA-370678D20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65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A74A3-5DE2-46E3-8940-9C800173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FDF660-B16F-4A71-BF97-19767143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2E10AE-39B7-4D2D-8185-3BF55791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B95CCF-4F95-45C4-991A-BBD2A56CD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296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708AF6-B4B0-459B-A9D4-BAF3397C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AD5C80-1388-4DC1-9AF5-E5289F2D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A8C833-A6C8-458F-8618-A4467380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165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92E99-CC71-403C-A9C4-339A3FA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3674DF-5917-40CF-BE40-1ECF89DB7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39DD54-AAF7-4BF7-9BFE-7F7BAE033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E30A3E-1032-4B26-9E99-9D8C67FE3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B62D19-9ED7-4B83-BABB-DFD1C433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15CC43-7E71-4E66-91FD-18E6854C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57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995C7-9A98-4C97-9D9D-100D44E5A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472A60-2007-4F02-AF9A-208FC92B9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02C33-7F65-4F6E-881E-C74F30BB4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AF1858-3DF5-406E-8738-EC9F7E8C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68E5D-5155-4E27-8072-7CA16D7C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82BB0B-73F3-4C5C-B165-B79F6235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81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B5FC6-CBAD-419A-BA2F-F952C4E5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A1558F-4AEA-47E8-A82D-2C622F3E1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AD132-5E0A-4978-911F-2033E1EA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582A6-0E65-4BEA-86F0-F4ED1308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7B0DFF-F476-49E7-AB90-80168F20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83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A92B2F-4A61-4F33-A579-9ABA48636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A59266-38AF-4F2C-A784-4E5B8B2A8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086C09-4319-4090-A231-AD3410FEE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54CEC-258A-42ED-B5A3-071CBA940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DC0C24-BC5D-4D38-93CF-2E408E31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94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075184-7BE5-4261-85B5-C6C7E8B8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29EF4F-43A5-4A7E-9D51-D36EB24BA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28717-A801-4CF3-BFF7-1ACC06483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3C52E-2F77-4F34-B02C-7A3638318601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F4C7D-9912-4AEB-989B-2DF5B7809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9D76E5-246A-4E4D-A45A-D864E42C47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895EE-ABFB-4719-B8DB-66B19CFA2E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35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3B98F-1D52-4A88-9C57-C3A814B0B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连续时间系统的求解</a:t>
            </a:r>
            <a:r>
              <a:rPr lang="en-US" altLang="zh-CN" dirty="0"/>
              <a:t>: </a:t>
            </a:r>
            <a:r>
              <a:rPr lang="zh-CN" altLang="en-US" dirty="0"/>
              <a:t>实验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852892-3373-4A16-A086-63C4DBB0F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茅单文</a:t>
            </a:r>
            <a:endParaRPr lang="en-US" altLang="zh-CN" dirty="0"/>
          </a:p>
          <a:p>
            <a:r>
              <a:rPr lang="en-US" altLang="zh-CN" dirty="0"/>
              <a:t>15/10/2025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490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6FBB322-0091-445A-85D5-16C440712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475"/>
            <a:ext cx="12192000" cy="5973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941DB83-253C-4C97-B68C-4BA06784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21920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78B2C-75E1-489A-86CE-981066E6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简单输入</a:t>
            </a:r>
            <a:r>
              <a:rPr lang="en-US" altLang="zh-CN" dirty="0"/>
              <a:t>——</a:t>
            </a:r>
            <a:r>
              <a:rPr lang="zh-CN" altLang="en-US" dirty="0"/>
              <a:t>系统响应特性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D70ECE-A1AF-44C5-8BE3-FD66E2AC2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838" y="1333817"/>
            <a:ext cx="7272323" cy="54542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DA599C9-7B1C-453F-BAC9-3D34D129BDCF}"/>
              </a:ext>
            </a:extLst>
          </p:cNvPr>
          <p:cNvSpPr txBox="1"/>
          <p:nvPr/>
        </p:nvSpPr>
        <p:spPr>
          <a:xfrm>
            <a:off x="9282457" y="1756496"/>
            <a:ext cx="2372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系统延迟响应 </a:t>
            </a:r>
            <a:r>
              <a:rPr lang="en-US" altLang="zh-CN" sz="2800" dirty="0">
                <a:highlight>
                  <a:srgbClr val="FFFF00"/>
                </a:highlight>
              </a:rPr>
              <a:t>~6s</a:t>
            </a:r>
            <a:r>
              <a:rPr lang="zh-CN" altLang="en-US" sz="2800" dirty="0">
                <a:highlight>
                  <a:srgbClr val="FFFF00"/>
                </a:highlight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90F508-9A7C-4E64-90D2-63DEA7EA0FA4}"/>
              </a:ext>
            </a:extLst>
          </p:cNvPr>
          <p:cNvSpPr txBox="1"/>
          <p:nvPr/>
        </p:nvSpPr>
        <p:spPr>
          <a:xfrm>
            <a:off x="5810773" y="4616207"/>
            <a:ext cx="2494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峰值滞后 </a:t>
            </a:r>
            <a:r>
              <a:rPr lang="en-US" altLang="zh-CN" sz="2800" dirty="0">
                <a:highlight>
                  <a:srgbClr val="FFFF00"/>
                </a:highlight>
              </a:rPr>
              <a:t>~0.7s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B888D3-F9B1-48D6-98EF-9EFAC04C6AF8}"/>
              </a:ext>
            </a:extLst>
          </p:cNvPr>
          <p:cNvSpPr txBox="1"/>
          <p:nvPr/>
        </p:nvSpPr>
        <p:spPr>
          <a:xfrm>
            <a:off x="9282456" y="3289615"/>
            <a:ext cx="2372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highlight>
                  <a:srgbClr val="FFFF00"/>
                </a:highlight>
              </a:rPr>
              <a:t>幅度削弱 </a:t>
            </a:r>
            <a:r>
              <a:rPr lang="en-US" altLang="zh-CN" sz="2800" dirty="0">
                <a:highlight>
                  <a:srgbClr val="FFFF00"/>
                </a:highlight>
              </a:rPr>
              <a:t>~0.5</a:t>
            </a:r>
            <a:endParaRPr lang="zh-CN" altLang="en-US" sz="2800" dirty="0">
              <a:highlight>
                <a:srgbClr val="FFFF00"/>
              </a:highlight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9342E97-0427-47E7-9C01-AFB551ED7925}"/>
              </a:ext>
            </a:extLst>
          </p:cNvPr>
          <p:cNvCxnSpPr/>
          <p:nvPr/>
        </p:nvCxnSpPr>
        <p:spPr>
          <a:xfrm>
            <a:off x="6767041" y="3180559"/>
            <a:ext cx="0" cy="1493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49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56A4D-76FB-4585-AC82-11E37EE7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复杂输入</a:t>
            </a:r>
            <a:r>
              <a:rPr lang="en-US" altLang="zh-CN" dirty="0"/>
              <a:t>——</a:t>
            </a:r>
            <a:r>
              <a:rPr lang="zh-CN" altLang="en-US" dirty="0"/>
              <a:t>系统响应行为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14CC3A-A111-4736-AF46-58D817571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87634" y="1454188"/>
            <a:ext cx="5266164" cy="39496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E20DDE1-FB35-4560-BED8-5AB92B141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4189"/>
            <a:ext cx="5266162" cy="394962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1C957D-49C0-4734-8C27-E9574A50EC18}"/>
              </a:ext>
            </a:extLst>
          </p:cNvPr>
          <p:cNvSpPr txBox="1"/>
          <p:nvPr/>
        </p:nvSpPr>
        <p:spPr>
          <a:xfrm>
            <a:off x="1507066" y="5403811"/>
            <a:ext cx="3911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系统延迟响应</a:t>
            </a:r>
            <a:endParaRPr lang="en-US" altLang="zh-CN" sz="2000" dirty="0"/>
          </a:p>
          <a:p>
            <a:r>
              <a:rPr lang="zh-CN" altLang="en-US" sz="2000" dirty="0"/>
              <a:t>幅度削弱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9B7FEE-15AB-41A5-B463-FA8AED72AFB3}"/>
              </a:ext>
            </a:extLst>
          </p:cNvPr>
          <p:cNvSpPr txBox="1"/>
          <p:nvPr/>
        </p:nvSpPr>
        <p:spPr>
          <a:xfrm>
            <a:off x="7705900" y="374395"/>
            <a:ext cx="3580167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008013"/>
                </a:solidFill>
                <a:effectLst/>
                <a:latin typeface="Menlo"/>
              </a:rPr>
              <a:t>% </a:t>
            </a:r>
            <a:r>
              <a:rPr lang="zh-CN" altLang="en-US" sz="1400" b="0" i="0" dirty="0">
                <a:solidFill>
                  <a:srgbClr val="008013"/>
                </a:solidFill>
                <a:effectLst/>
                <a:latin typeface="Menlo"/>
              </a:rPr>
              <a:t>零状态响应</a:t>
            </a:r>
            <a:endParaRPr lang="zh-CN" altLang="en-US" sz="1400" b="0" i="0" dirty="0">
              <a:effectLst/>
              <a:latin typeface="Menlo"/>
            </a:endParaRPr>
          </a:p>
          <a:p>
            <a:r>
              <a:rPr lang="en-US" altLang="zh-CN" sz="1400" b="0" i="0" dirty="0">
                <a:effectLst/>
                <a:latin typeface="Menlo"/>
              </a:rPr>
              <a:t>E=sin(t)+sin(20*t);</a:t>
            </a:r>
          </a:p>
          <a:p>
            <a:r>
              <a:rPr lang="en-US" altLang="zh-CN" sz="1400" b="0" i="0" dirty="0" err="1">
                <a:effectLst/>
                <a:latin typeface="Menlo"/>
              </a:rPr>
              <a:t>E_long</a:t>
            </a:r>
            <a:r>
              <a:rPr lang="en-US" altLang="zh-CN" sz="1400" b="0" i="0" dirty="0">
                <a:effectLst/>
                <a:latin typeface="Menlo"/>
              </a:rPr>
              <a:t>=sin(</a:t>
            </a:r>
            <a:r>
              <a:rPr lang="en-US" altLang="zh-CN" sz="1400" b="0" i="0" dirty="0" err="1">
                <a:effectLst/>
                <a:latin typeface="Menlo"/>
              </a:rPr>
              <a:t>t_long</a:t>
            </a:r>
            <a:r>
              <a:rPr lang="en-US" altLang="zh-CN" sz="1400" b="0" i="0" dirty="0">
                <a:effectLst/>
                <a:latin typeface="Menlo"/>
              </a:rPr>
              <a:t>)+sin(20*</a:t>
            </a:r>
            <a:r>
              <a:rPr lang="en-US" altLang="zh-CN" sz="1400" b="0" i="0" dirty="0" err="1">
                <a:effectLst/>
                <a:latin typeface="Menlo"/>
              </a:rPr>
              <a:t>t_long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  <a:p>
            <a:r>
              <a:rPr lang="en-US" altLang="zh-CN" sz="1400" b="0" i="0" dirty="0">
                <a:effectLst/>
                <a:latin typeface="Menlo"/>
              </a:rPr>
              <a:t>R=</a:t>
            </a:r>
            <a:r>
              <a:rPr lang="en-US" altLang="zh-CN" sz="1400" b="0" i="0" dirty="0" err="1">
                <a:effectLst/>
                <a:latin typeface="Menlo"/>
              </a:rPr>
              <a:t>lsim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sys,E,t</a:t>
            </a:r>
            <a:r>
              <a:rPr lang="en-US" altLang="zh-CN" sz="1400" b="0" i="0" dirty="0">
                <a:effectLst/>
                <a:latin typeface="Menlo"/>
              </a:rPr>
              <a:t>); </a:t>
            </a:r>
            <a:r>
              <a:rPr lang="en-US" altLang="zh-CN" sz="1400" b="0" i="0" dirty="0" err="1">
                <a:effectLst/>
                <a:latin typeface="Menlo"/>
              </a:rPr>
              <a:t>R_long</a:t>
            </a:r>
            <a:r>
              <a:rPr lang="en-US" altLang="zh-CN" sz="1400" b="0" i="0" dirty="0">
                <a:effectLst/>
                <a:latin typeface="Menlo"/>
              </a:rPr>
              <a:t>=</a:t>
            </a:r>
            <a:r>
              <a:rPr lang="en-US" altLang="zh-CN" sz="1400" b="0" i="0" dirty="0" err="1">
                <a:effectLst/>
                <a:latin typeface="Menlo"/>
              </a:rPr>
              <a:t>lsim</a:t>
            </a:r>
            <a:r>
              <a:rPr lang="en-US" altLang="zh-CN" sz="1400" b="0" i="0" dirty="0">
                <a:effectLst/>
                <a:latin typeface="Menlo"/>
              </a:rPr>
              <a:t>(</a:t>
            </a:r>
            <a:r>
              <a:rPr lang="en-US" altLang="zh-CN" sz="1400" b="0" i="0" dirty="0" err="1">
                <a:effectLst/>
                <a:latin typeface="Menlo"/>
              </a:rPr>
              <a:t>sys,E</a:t>
            </a:r>
            <a:r>
              <a:rPr lang="en-US" altLang="zh-CN" sz="1400" dirty="0" err="1">
                <a:latin typeface="Menlo"/>
              </a:rPr>
              <a:t>_long</a:t>
            </a:r>
            <a:r>
              <a:rPr lang="en-US" altLang="zh-CN" sz="1400" b="0" i="0" dirty="0" err="1">
                <a:effectLst/>
                <a:latin typeface="Menlo"/>
              </a:rPr>
              <a:t>,t_long</a:t>
            </a:r>
            <a:r>
              <a:rPr lang="en-US" altLang="zh-CN" sz="1400" b="0" i="0" dirty="0">
                <a:effectLst/>
                <a:latin typeface="Menlo"/>
              </a:rPr>
              <a:t>);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89A997-BE36-4B1E-8057-F0650F4F2414}"/>
              </a:ext>
            </a:extLst>
          </p:cNvPr>
          <p:cNvSpPr txBox="1"/>
          <p:nvPr/>
        </p:nvSpPr>
        <p:spPr>
          <a:xfrm>
            <a:off x="6697132" y="5403811"/>
            <a:ext cx="39117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系统选择低频？为什么？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325625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E31BF-4D99-4697-A0EB-FBB67E78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复杂输入</a:t>
            </a:r>
            <a:r>
              <a:rPr lang="en-US" altLang="zh-CN" dirty="0"/>
              <a:t>——</a:t>
            </a:r>
            <a:r>
              <a:rPr lang="zh-CN" altLang="en-US" dirty="0"/>
              <a:t>系统响应行为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FFFA40-1DCC-4BC2-8554-D67B482BE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19" y="4062875"/>
            <a:ext cx="3240000" cy="243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39A891-0913-4440-99D3-A0A91C85A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619" y="1315374"/>
            <a:ext cx="3240000" cy="243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9F465D-B349-446E-9D4C-C9A6E27CFA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1619" y="1315374"/>
            <a:ext cx="3240000" cy="243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CF6558A-4B1E-4E33-9A96-5F2E7DB8DA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18" y="4062875"/>
            <a:ext cx="3240000" cy="243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BF0842-25B4-434B-B0C3-AC05F4C371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18" y="1315374"/>
            <a:ext cx="3240001" cy="243000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7ACF931-8318-4D3E-AD67-FF91BB413D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619" y="4062875"/>
            <a:ext cx="3240000" cy="24300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BAA6DB54-FC8B-4FA5-9BA9-A32D50FF3888}"/>
              </a:ext>
            </a:extLst>
          </p:cNvPr>
          <p:cNvSpPr/>
          <p:nvPr/>
        </p:nvSpPr>
        <p:spPr>
          <a:xfrm>
            <a:off x="4919133" y="2556933"/>
            <a:ext cx="821267" cy="10498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80CA5D-97B6-4F51-A56A-B605482F3771}"/>
              </a:ext>
            </a:extLst>
          </p:cNvPr>
          <p:cNvSpPr/>
          <p:nvPr/>
        </p:nvSpPr>
        <p:spPr>
          <a:xfrm>
            <a:off x="1284552" y="2530374"/>
            <a:ext cx="400315" cy="12065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DB513D2-0696-43F9-B617-0331F142C32B}"/>
              </a:ext>
            </a:extLst>
          </p:cNvPr>
          <p:cNvSpPr/>
          <p:nvPr/>
        </p:nvSpPr>
        <p:spPr>
          <a:xfrm>
            <a:off x="4586552" y="5277875"/>
            <a:ext cx="400315" cy="12065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2EB770-CD73-4007-95C7-07F1AD59C247}"/>
              </a:ext>
            </a:extLst>
          </p:cNvPr>
          <p:cNvSpPr txBox="1"/>
          <p:nvPr/>
        </p:nvSpPr>
        <p:spPr>
          <a:xfrm>
            <a:off x="7744619" y="365125"/>
            <a:ext cx="3609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高频输出幅值被明显削弱</a:t>
            </a:r>
            <a:endParaRPr lang="en-US" altLang="zh-CN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highlight>
                  <a:srgbClr val="FFFF00"/>
                </a:highlight>
              </a:rPr>
              <a:t>初始输出幅值突增，随后降低，最终稳定。</a:t>
            </a:r>
          </a:p>
        </p:txBody>
      </p:sp>
    </p:spTree>
    <p:extLst>
      <p:ext uri="{BB962C8B-B14F-4D97-AF65-F5344CB8AC3E}">
        <p14:creationId xmlns:p14="http://schemas.microsoft.com/office/powerpoint/2010/main" val="301364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E31BF-4D99-4697-A0EB-FBB67E78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2EB770-CD73-4007-95C7-07F1AD59C247}"/>
              </a:ext>
            </a:extLst>
          </p:cNvPr>
          <p:cNvSpPr txBox="1"/>
          <p:nvPr/>
        </p:nvSpPr>
        <p:spPr>
          <a:xfrm>
            <a:off x="4865614" y="781583"/>
            <a:ext cx="5704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可能原因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系统角度：系统倾向于抑制高频输入幅值。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信号角度：高频输入快速振荡，系统响应存在延迟，</a:t>
            </a:r>
            <a:r>
              <a:rPr lang="zh-CN" altLang="en-US" dirty="0">
                <a:solidFill>
                  <a:srgbClr val="FF0000"/>
                </a:solidFill>
              </a:rPr>
              <a:t>正负输出抵消</a:t>
            </a:r>
            <a:r>
              <a:rPr lang="zh-CN" altLang="en-US" dirty="0"/>
              <a:t>，输出被平均化。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8103AC-64EB-41AD-A13D-7EB8DBDAB5A4}"/>
              </a:ext>
            </a:extLst>
          </p:cNvPr>
          <p:cNvSpPr txBox="1"/>
          <p:nvPr/>
        </p:nvSpPr>
        <p:spPr>
          <a:xfrm>
            <a:off x="838200" y="1476553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高频输出幅值被明显削弱</a:t>
            </a:r>
            <a:endParaRPr lang="en-US" altLang="zh-CN" b="1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5D18DB6-6493-408C-AB1D-48B47FB89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42469"/>
            <a:ext cx="4027414" cy="30205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7C84FDE-2F2D-46A5-8D6D-A9CAF03BE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330" y="2642469"/>
            <a:ext cx="4027413" cy="302056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E85FA12-2B6F-4BC2-847E-5ED98D829078}"/>
              </a:ext>
            </a:extLst>
          </p:cNvPr>
          <p:cNvSpPr txBox="1"/>
          <p:nvPr/>
        </p:nvSpPr>
        <p:spPr>
          <a:xfrm>
            <a:off x="7843707" y="3244334"/>
            <a:ext cx="302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排除信号平均化影响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BD9DE0-4848-40AE-8B30-E24BF0E3A66F}"/>
              </a:ext>
            </a:extLst>
          </p:cNvPr>
          <p:cNvSpPr/>
          <p:nvPr/>
        </p:nvSpPr>
        <p:spPr>
          <a:xfrm>
            <a:off x="7022622" y="4224950"/>
            <a:ext cx="400315" cy="12065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FA48C1-970B-43CD-B114-8BF06314D589}"/>
              </a:ext>
            </a:extLst>
          </p:cNvPr>
          <p:cNvSpPr txBox="1"/>
          <p:nvPr/>
        </p:nvSpPr>
        <p:spPr>
          <a:xfrm>
            <a:off x="4533551" y="2797666"/>
            <a:ext cx="23992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正的半波输入，初始幅值依然很低，说明这是系统“倾向于抑制高频输入幅值”的</a:t>
            </a:r>
            <a:r>
              <a:rPr lang="zh-CN" altLang="en-US" sz="2400" b="1" dirty="0">
                <a:solidFill>
                  <a:srgbClr val="FF0000"/>
                </a:solidFill>
              </a:rPr>
              <a:t>特性</a:t>
            </a:r>
            <a:r>
              <a:rPr lang="zh-CN" altLang="en-US" sz="2400" dirty="0"/>
              <a:t>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C4ADD0-5251-4284-8AF9-11C862A36359}"/>
              </a:ext>
            </a:extLst>
          </p:cNvPr>
          <p:cNvSpPr txBox="1"/>
          <p:nvPr/>
        </p:nvSpPr>
        <p:spPr>
          <a:xfrm>
            <a:off x="1098958" y="5780015"/>
            <a:ext cx="947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这是作为整个系统所表现出的性质，可以由传递函数定量证明，但是定性解释只能落实到具体的物理模型，比如电感存储高频信号，</a:t>
            </a:r>
            <a:r>
              <a:rPr lang="zh-CN" altLang="en-US" i="1" u="sng" dirty="0"/>
              <a:t>尚不知道如何进一步解释这一系统特性的产生原因。</a:t>
            </a:r>
          </a:p>
        </p:txBody>
      </p:sp>
    </p:spTree>
    <p:extLst>
      <p:ext uri="{BB962C8B-B14F-4D97-AF65-F5344CB8AC3E}">
        <p14:creationId xmlns:p14="http://schemas.microsoft.com/office/powerpoint/2010/main" val="424192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E31BF-4D99-4697-A0EB-FBB67E78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2EB770-CD73-4007-95C7-07F1AD59C247}"/>
              </a:ext>
            </a:extLst>
          </p:cNvPr>
          <p:cNvSpPr txBox="1"/>
          <p:nvPr/>
        </p:nvSpPr>
        <p:spPr>
          <a:xfrm>
            <a:off x="4865614" y="781583"/>
            <a:ext cx="5704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可能原因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系统角度：系统倾向于抑制高频输入幅值。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信号角度：高频输入快速振荡，系统响应存在延迟，</a:t>
            </a:r>
            <a:r>
              <a:rPr lang="zh-CN" altLang="en-US" dirty="0">
                <a:solidFill>
                  <a:srgbClr val="FF0000"/>
                </a:solidFill>
              </a:rPr>
              <a:t>正负输出抵消</a:t>
            </a:r>
            <a:r>
              <a:rPr lang="zh-CN" altLang="en-US" dirty="0"/>
              <a:t>，输出被</a:t>
            </a:r>
            <a:r>
              <a:rPr lang="zh-CN" altLang="en-US" b="1" dirty="0">
                <a:solidFill>
                  <a:srgbClr val="FF0000"/>
                </a:solidFill>
              </a:rPr>
              <a:t>平均化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8103AC-64EB-41AD-A13D-7EB8DBDAB5A4}"/>
              </a:ext>
            </a:extLst>
          </p:cNvPr>
          <p:cNvSpPr txBox="1"/>
          <p:nvPr/>
        </p:nvSpPr>
        <p:spPr>
          <a:xfrm>
            <a:off x="838200" y="1476553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高频输出幅值被明显削弱</a:t>
            </a:r>
            <a:endParaRPr lang="en-US" altLang="zh-CN" b="1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5D18DB6-6493-408C-AB1D-48B47FB89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42469"/>
            <a:ext cx="4027414" cy="30205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7C84FDE-2F2D-46A5-8D6D-A9CAF03BE2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330" y="2642469"/>
            <a:ext cx="4027413" cy="302056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E85FA12-2B6F-4BC2-847E-5ED98D829078}"/>
              </a:ext>
            </a:extLst>
          </p:cNvPr>
          <p:cNvSpPr txBox="1"/>
          <p:nvPr/>
        </p:nvSpPr>
        <p:spPr>
          <a:xfrm>
            <a:off x="7843707" y="3244334"/>
            <a:ext cx="302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排除信号平均化影响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BD9DE0-4848-40AE-8B30-E24BF0E3A66F}"/>
              </a:ext>
            </a:extLst>
          </p:cNvPr>
          <p:cNvSpPr/>
          <p:nvPr/>
        </p:nvSpPr>
        <p:spPr>
          <a:xfrm>
            <a:off x="7022622" y="4224950"/>
            <a:ext cx="400315" cy="12065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1B624D-A8C8-455F-9064-E1CC1D9EF6A7}"/>
              </a:ext>
            </a:extLst>
          </p:cNvPr>
          <p:cNvSpPr/>
          <p:nvPr/>
        </p:nvSpPr>
        <p:spPr>
          <a:xfrm>
            <a:off x="7961152" y="4274223"/>
            <a:ext cx="2608977" cy="717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69D7D89-E0AE-49EB-A07B-D9372A20B609}"/>
              </a:ext>
            </a:extLst>
          </p:cNvPr>
          <p:cNvSpPr/>
          <p:nvPr/>
        </p:nvSpPr>
        <p:spPr>
          <a:xfrm>
            <a:off x="1937507" y="4274223"/>
            <a:ext cx="2608977" cy="7172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18243A-FA60-4F4B-9509-261112E2AE3A}"/>
              </a:ext>
            </a:extLst>
          </p:cNvPr>
          <p:cNvSpPr txBox="1"/>
          <p:nvPr/>
        </p:nvSpPr>
        <p:spPr>
          <a:xfrm>
            <a:off x="4477987" y="2749027"/>
            <a:ext cx="254463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对比两图，可以看出</a:t>
            </a:r>
            <a:r>
              <a:rPr lang="zh-CN" altLang="en-US" sz="2400" b="1" dirty="0">
                <a:solidFill>
                  <a:srgbClr val="FF0000"/>
                </a:solidFill>
              </a:rPr>
              <a:t>信号平均化</a:t>
            </a:r>
            <a:r>
              <a:rPr lang="zh-CN" altLang="en-US" sz="2400" dirty="0"/>
              <a:t>也降低了幅值（</a:t>
            </a:r>
            <a:r>
              <a:rPr lang="en-US" altLang="zh-CN" sz="2400" dirty="0"/>
              <a:t>~0.01</a:t>
            </a:r>
            <a:r>
              <a:rPr lang="zh-CN" altLang="en-US" sz="2400" dirty="0"/>
              <a:t>），当然没有由于系统特性导致的幅值降低显著。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FCB0A7-5CA7-43FE-BD3A-301844CB973F}"/>
              </a:ext>
            </a:extLst>
          </p:cNvPr>
          <p:cNvSpPr/>
          <p:nvPr/>
        </p:nvSpPr>
        <p:spPr>
          <a:xfrm>
            <a:off x="998977" y="4224950"/>
            <a:ext cx="400315" cy="12065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49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AE31BF-4D99-4697-A0EB-FBB67E78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2EB770-CD73-4007-95C7-07F1AD59C247}"/>
              </a:ext>
            </a:extLst>
          </p:cNvPr>
          <p:cNvSpPr txBox="1"/>
          <p:nvPr/>
        </p:nvSpPr>
        <p:spPr>
          <a:xfrm>
            <a:off x="4865614" y="708037"/>
            <a:ext cx="5704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可能原因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系统角度：系统倾向于抑制高频输入幅值。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信号角度：高频输入快速振荡，系统响应存在延迟，</a:t>
            </a:r>
            <a:r>
              <a:rPr lang="zh-CN" altLang="en-US" dirty="0">
                <a:solidFill>
                  <a:srgbClr val="FF0000"/>
                </a:solidFill>
              </a:rPr>
              <a:t>正负输出抵消</a:t>
            </a:r>
            <a:r>
              <a:rPr lang="zh-CN" altLang="en-US" dirty="0"/>
              <a:t>，输出被平均化。</a:t>
            </a:r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105E4B-D7A0-4E7C-98F5-5DEDA6056C9D}"/>
              </a:ext>
            </a:extLst>
          </p:cNvPr>
          <p:cNvSpPr txBox="1"/>
          <p:nvPr/>
        </p:nvSpPr>
        <p:spPr>
          <a:xfrm>
            <a:off x="998977" y="1308202"/>
            <a:ext cx="3245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初始输出幅值突增，随后降低，最终稳定。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5D31571-7F1F-4947-AF5A-4A6742B05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05" y="4243631"/>
            <a:ext cx="3360000" cy="25200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02383E3-0E79-4236-BCC8-FBB52582C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05" y="1908366"/>
            <a:ext cx="3360000" cy="252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D7C6312-E568-4B0A-8DB2-71C83731B0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035" y="1908366"/>
            <a:ext cx="3360000" cy="252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01BBB04-B1E1-4145-A780-28652AAF5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035" y="4291833"/>
            <a:ext cx="3360000" cy="25200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67D74C4E-93D2-4688-83A8-526784732B4C}"/>
              </a:ext>
            </a:extLst>
          </p:cNvPr>
          <p:cNvSpPr txBox="1"/>
          <p:nvPr/>
        </p:nvSpPr>
        <p:spPr>
          <a:xfrm>
            <a:off x="998977" y="2104584"/>
            <a:ext cx="315357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突增</a:t>
            </a:r>
            <a:r>
              <a:rPr lang="en-US" altLang="zh-CN" sz="1600" dirty="0"/>
              <a:t>-</a:t>
            </a:r>
            <a:r>
              <a:rPr lang="zh-CN" altLang="en-US" sz="1600" dirty="0"/>
              <a:t>降低</a:t>
            </a:r>
            <a:r>
              <a:rPr lang="en-US" altLang="zh-CN" sz="1600" dirty="0"/>
              <a:t>-</a:t>
            </a:r>
            <a:r>
              <a:rPr lang="zh-CN" altLang="en-US" sz="1600" dirty="0"/>
              <a:t>稳定，持续时间</a:t>
            </a:r>
            <a:r>
              <a:rPr lang="en-US" altLang="zh-CN" sz="1600" dirty="0"/>
              <a:t>~6s.</a:t>
            </a:r>
          </a:p>
          <a:p>
            <a:r>
              <a:rPr lang="zh-CN" altLang="en-US" sz="1600" dirty="0"/>
              <a:t>连续三角函数输入与半波输入在这一段的</a:t>
            </a:r>
            <a:r>
              <a:rPr lang="zh-CN" altLang="en-US" sz="1600" b="1" dirty="0"/>
              <a:t>低频</a:t>
            </a:r>
            <a:r>
              <a:rPr lang="zh-CN" altLang="en-US" sz="1600" dirty="0"/>
              <a:t>变化趋势一致，与之前不同频率输入、单位冲激输入的</a:t>
            </a:r>
            <a:r>
              <a:rPr lang="zh-CN" altLang="en-US" sz="1600" b="1" dirty="0"/>
              <a:t>低频</a:t>
            </a:r>
            <a:r>
              <a:rPr lang="zh-CN" altLang="en-US" sz="1600" dirty="0"/>
              <a:t>变化趋势也一致。实际上，半波输入可以傅里叶变换为连续三角函数输入的叠加。</a:t>
            </a:r>
            <a:endParaRPr lang="en-US" altLang="zh-CN" sz="1600" dirty="0"/>
          </a:p>
          <a:p>
            <a:r>
              <a:rPr lang="zh-CN" altLang="en-US" sz="1600" dirty="0"/>
              <a:t>说明这一低频变化是</a:t>
            </a:r>
            <a:r>
              <a:rPr lang="zh-CN" altLang="en-US" sz="1600" b="1" dirty="0"/>
              <a:t>系统的</a:t>
            </a:r>
            <a:r>
              <a:rPr lang="zh-CN" altLang="en-US" sz="1600" b="1" dirty="0">
                <a:solidFill>
                  <a:srgbClr val="FF0000"/>
                </a:solidFill>
              </a:rPr>
              <a:t>特性</a:t>
            </a:r>
            <a:r>
              <a:rPr lang="zh-CN" altLang="en-US" sz="1600" dirty="0"/>
              <a:t>，与输入信号无关。</a:t>
            </a:r>
            <a:endParaRPr lang="en-US" altLang="zh-CN" sz="1600" dirty="0"/>
          </a:p>
          <a:p>
            <a:r>
              <a:rPr lang="zh-CN" altLang="en-US" sz="1600" i="1" u="sng" dirty="0"/>
              <a:t>但是这一特性产生的原因是什么？</a:t>
            </a:r>
            <a:endParaRPr lang="en-US" altLang="zh-CN" sz="1600" i="1" u="sng" dirty="0"/>
          </a:p>
          <a:p>
            <a:endParaRPr lang="en-US" altLang="zh-CN" sz="1600" dirty="0"/>
          </a:p>
          <a:p>
            <a:r>
              <a:rPr lang="zh-CN" altLang="en-US" sz="1600" dirty="0"/>
              <a:t>此时输出信号无论处于什么状态（突增</a:t>
            </a:r>
            <a:r>
              <a:rPr lang="en-US" altLang="zh-CN" sz="1600" dirty="0"/>
              <a:t>/</a:t>
            </a:r>
            <a:r>
              <a:rPr lang="zh-CN" altLang="en-US" sz="1600" dirty="0"/>
              <a:t>降低</a:t>
            </a:r>
            <a:r>
              <a:rPr lang="en-US" altLang="zh-CN" sz="1600" dirty="0"/>
              <a:t>/</a:t>
            </a:r>
            <a:r>
              <a:rPr lang="zh-CN" altLang="en-US" sz="1600" dirty="0"/>
              <a:t>稳定），一旦是最后一个半波，最终输出波的持续时长相同</a:t>
            </a:r>
            <a:r>
              <a:rPr lang="en-US" altLang="zh-CN" sz="1600" dirty="0"/>
              <a:t>——</a:t>
            </a:r>
            <a:r>
              <a:rPr lang="zh-CN" altLang="en-US" sz="1600" dirty="0"/>
              <a:t>体现为一个半波与单位冲激的卷积结果；幅值略有不同，体现为之前卷积结果的影响。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425166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字体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510</Words>
  <Application>Microsoft Office PowerPoint</Application>
  <PresentationFormat>宽屏</PresentationFormat>
  <Paragraphs>46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Menlo</vt:lpstr>
      <vt:lpstr>等线</vt:lpstr>
      <vt:lpstr>Arial</vt:lpstr>
      <vt:lpstr>Times New Roman</vt:lpstr>
      <vt:lpstr>Office 主题​​</vt:lpstr>
      <vt:lpstr>连续时间系统的求解: 实验</vt:lpstr>
      <vt:lpstr>PowerPoint 演示文稿</vt:lpstr>
      <vt:lpstr>PowerPoint 演示文稿</vt:lpstr>
      <vt:lpstr>简单输入——系统响应特性</vt:lpstr>
      <vt:lpstr>复杂输入——系统响应行为</vt:lpstr>
      <vt:lpstr>复杂输入——系统响应行为</vt:lpstr>
      <vt:lpstr>讨论</vt:lpstr>
      <vt:lpstr>讨论</vt:lpstr>
      <vt:lpstr>讨论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连续时间系统的求解: 实验</dc:title>
  <dc:creator>DANWEN MAO</dc:creator>
  <cp:lastModifiedBy>DANWEN MAO</cp:lastModifiedBy>
  <cp:revision>17</cp:revision>
  <dcterms:created xsi:type="dcterms:W3CDTF">2025-10-15T12:59:06Z</dcterms:created>
  <dcterms:modified xsi:type="dcterms:W3CDTF">2025-10-16T11:23:51Z</dcterms:modified>
</cp:coreProperties>
</file>