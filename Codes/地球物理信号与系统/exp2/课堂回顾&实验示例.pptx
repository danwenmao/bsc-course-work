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876" r:id="rId3"/>
    <p:sldId id="1262" r:id="rId4"/>
    <p:sldId id="256" r:id="rId5"/>
    <p:sldId id="25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FB3F6-F972-4F92-A9AF-64DE0AEE5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DB6914-BE7B-401E-83A9-41BD748AF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81219-5914-45C9-B1A4-7894CE127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3E53B5-E758-45B6-BF8E-5E41B8273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DDC95-9FEC-4FCE-9E00-61EF9681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3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7B69E-642E-4C56-BD70-3E1D49C2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8F8318-F5F7-4989-946F-E747B4A5F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88BBAB-1EF5-4D51-9E52-B8990CFD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F124D1-E8EC-4797-99B4-93998BA4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EC4267-E684-4CFE-8BAE-F5A5F5EC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541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2BD13-CAFA-4A4F-8848-80CC15F17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FEFA79-4083-4B87-971A-6AEA7591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B0057-D273-41FB-B258-CEEC38C13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889211-4A2A-4B0F-AA87-702937C0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DB8BFA-11D9-4519-BDB4-1C0E9FC9D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37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BF906-59FC-421B-85E3-2B5C9619D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048ED4-433F-4F95-8D5E-A4A1F0308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A498F6-5CB2-4459-BB7E-506B82560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DFFC5-67DF-49AE-83A0-F5A16350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C36B84-91C0-4B7E-AD48-6536144C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A76369-824B-439E-9BA3-87E38910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78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AFDBF-40E3-4DAF-A932-09544F287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E6172B-A83C-43AC-9E4E-51FC05CF4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BF4C99-8180-4359-9D36-DF21182F0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FBB29D-290F-4395-A827-31E34A3AE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2F0781-4646-4A1B-A669-FD87D3AF5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5D48B8-C932-4D20-802D-3A534DEF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F90F4A-BC5D-41C7-892D-9A2B620C0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BF8E18-D8B8-446E-873C-7AF8CADF2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06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FE97A-6E2F-4DA7-AC99-1B0CCBD39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47E8BB-AF0B-4917-AB43-1100738B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9C4D4F-E7CC-4ADE-B735-A0866D3A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2DA6D3-B796-4C56-A4A5-CCA04AAE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06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C562DF-7A11-4E5C-924A-DA2B886E6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253E4C-3156-4527-B976-3AC5CEF2F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B0C3A6-7F5E-4F12-B76D-FBA14759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846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79BF3-5823-453C-8FDD-8037BD6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366E7B-2D62-48B1-9C5C-5DAB8589B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FE74A4-34A3-427A-AD9D-6D04E3CEC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F0F745-D9D4-461F-A208-8F6ED9E95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F2D61B-144D-43FC-93A2-6DDFDFC3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3A3D63-E135-4F3E-9C55-9908F08D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86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2596B-AF74-4B11-8A22-235DF916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C7F4CE-32B7-4FC2-B0AE-3B1F874ED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22483F-203E-404E-97FC-49D382A5D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B2FDF6-3B72-4DD2-A484-B387E3C9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B211AD-4A98-4CC5-A38B-671381C8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C5EC4F-A205-4EAB-895F-A46B5617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24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22311-F8AB-4233-B963-496A1B8A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1D95FE-6B60-49EE-B4D4-0768E1631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CE64CA-6D4F-492E-AE77-7AAC62FC3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0CA32-DF72-4B92-8C01-20E6C9D3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0B2601-6C94-4772-9DA6-1647ABF9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662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A07AE8-B55F-47E2-B096-3F362D40D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EC981D-9269-49C9-A407-4BBF24B76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99FC20-B3CD-4622-9392-87B7DFB6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BD5C0E-008F-4569-A822-DF3A659A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75578E-5626-4740-85CB-7B1926D0A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955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52706-230A-4378-AFEE-0E99405A3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30B81C-D1AC-4518-8043-122CA6139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E1937F-9D43-4D61-A1CB-C0E8F21A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B2E726-A3B2-4147-B817-6C7F61B80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6D7B2-58CF-4DA8-8F7C-03564282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094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1FDBA-BA2C-4823-9066-99FE1891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364C2-8165-4EAD-A47F-C29949807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57928-72F2-4F6F-A17E-26D32FE62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C3D192-335D-40D3-AA8F-45EF8699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9DF04A-6AF0-4A01-921A-44B821F6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107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A785A-5994-4A23-9CB5-FCF82579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B9269-1B6A-4864-B32D-188464D70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921F1-2481-4AAF-8285-C8155919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E1B530-036B-4A23-BD20-780BCEB7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CB08CA-A237-46FF-87D5-74EE5755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887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7B3B8-1DF1-43A8-8EEA-2E071654D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1DC467-48DC-409F-B97E-4C2241810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D1B41E-C4B2-4A2A-8F72-EC803FC27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29F019-82AF-45F8-AE1F-1E749A2F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369D25-33A7-46C3-8842-C55EC5059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B8E965-F104-4425-87EC-21E29334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37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9C231-C09C-4BA2-BE74-6519DA0A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0C522-A558-4D98-AFE9-7314B9D3C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82E97F-6350-438C-BDDA-0FED7502A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B5B357-25C2-4A1F-B1F2-9489CF903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739AFF-70E8-402F-AE3B-8E8C7D745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0DE2E3-E53F-4F6C-BAA1-A08855D7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8826DD4-000E-44C5-87BF-8316F23B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F000EC-CF4B-488F-81C5-AC01FAD97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183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A3478-0DF0-4896-A106-5F1FEFD3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7B223E-9BA1-43AC-B73A-77C4D51E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A6A328-D905-431F-9216-8A8FE1BA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684623-CAD8-41CC-87EB-16981980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4760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13E7F7-85CB-4E00-95F0-37ACB75D6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C6D0CA-712F-43A2-AD7A-F077C1B9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EFFE5-5A5A-4A24-9135-7FEE90F6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8104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D192D-83B4-4609-8032-DAB74C00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91E339-7ECB-4450-891E-BF62FBB43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AC37B9-A4F8-4C6A-858F-7A638E4BF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15236D-7EC5-4487-8EFF-8B6D35A2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86276F-12F9-4BD6-9D65-A38598C6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4CC4C3-5AF6-4982-95BB-B4D8E11C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34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4ECAA-1338-4240-939F-511ECDFC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CBE77D-C369-4C79-9523-160CDF229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E8FD7A-3BCF-4639-ABCF-2C87F2878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B9C745-D2EA-46B7-9928-CD6FD27F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E60FCA-E328-4124-9F85-2BE5A6A0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77201-E76E-40EC-8AFE-324FFCBC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051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02D64-8805-4004-BA6F-A100271B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D80C8B-88A0-4213-9628-DDFC69F4D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21772E-3120-432E-8A2D-FBF3F1D20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C6C9AE-CE88-4CE4-9A0F-74297C6C7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E09EFD-FAC6-4A22-9DEA-5FBB7001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092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A023AB-94BE-4ED6-BF1C-02B57BC14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637CC3-35C2-4013-AB43-63235EB8C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664778-E5B9-4206-99C4-AE4D7E58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FDC390-D530-4D5C-95CC-493D9FEE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28FBE5-6692-41D0-B4F8-B66964AFF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2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E87DB6-A457-40BB-AD04-DCA4C9DBB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F3E5CA-C8FB-4F0D-8ECA-32285E1A7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19A187-B934-4253-A202-B6D024D23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65AB6-76DB-4716-8C98-1DA99A8827AB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17A66-8C29-4AA1-A608-6E2D9AC5E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AB976-E798-4A80-8909-4D5BEAB51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EFF63-6D64-46C4-BFFB-E72A3BD02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88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73E181-78E7-4E58-BE26-DBE37DBC2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F5ED3C-EEE2-4B06-8997-AAA485B29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33AF2-7245-4578-A9EE-B6A83CA40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40C47-83FD-428B-AAF9-4D028AA2CA83}" type="datetimeFigureOut">
              <a:rPr lang="zh-CN" altLang="en-US" smtClean="0"/>
              <a:pPr/>
              <a:t>2025/9/25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7F84C5-DDAC-4CDF-815F-AD459B694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AD57CE-EE26-479E-82AC-A694EFB33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BA2D0-7AAE-4E6F-9388-53F627DD7CE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24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45A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8" name="标题 1">
            <a:extLst>
              <a:ext uri="{FF2B5EF4-FFF2-40B4-BE49-F238E27FC236}">
                <a16:creationId xmlns:a16="http://schemas.microsoft.com/office/drawing/2014/main" id="{027C273A-5C2F-465B-BD99-014139EDDD7E}"/>
              </a:ext>
            </a:extLst>
          </p:cNvPr>
          <p:cNvSpPr txBox="1">
            <a:spLocks/>
          </p:cNvSpPr>
          <p:nvPr/>
        </p:nvSpPr>
        <p:spPr bwMode="auto">
          <a:xfrm>
            <a:off x="2295819" y="516583"/>
            <a:ext cx="2857520" cy="644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kern="0" dirty="0">
                <a:solidFill>
                  <a:srgbClr val="44546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上节课回顾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81014F-70C5-41F5-BF41-6A7D34D0280F}"/>
              </a:ext>
            </a:extLst>
          </p:cNvPr>
          <p:cNvSpPr/>
          <p:nvPr/>
        </p:nvSpPr>
        <p:spPr>
          <a:xfrm>
            <a:off x="2195383" y="1381125"/>
            <a:ext cx="9469395" cy="1853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latin typeface="+mn-ea"/>
              </a:rPr>
              <a:t> </a:t>
            </a:r>
            <a:r>
              <a:rPr lang="zh-CN" altLang="en-US" sz="2000" b="1" dirty="0">
                <a:latin typeface="+mn-ea"/>
              </a:rPr>
              <a:t>列框图表达</a:t>
            </a:r>
            <a:r>
              <a:rPr lang="en-US" altLang="zh-CN" sz="2000" b="1" dirty="0">
                <a:latin typeface="+mn-ea"/>
              </a:rPr>
              <a:t>LTI</a:t>
            </a:r>
            <a:r>
              <a:rPr lang="zh-CN" altLang="en-US" sz="2000" b="1" dirty="0">
                <a:latin typeface="+mn-ea"/>
              </a:rPr>
              <a:t>系统的线性和时不变特性</a:t>
            </a:r>
            <a:endParaRPr lang="en-US" altLang="zh-CN" sz="20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latin typeface="+mn-ea"/>
              </a:rPr>
              <a:t> </a:t>
            </a:r>
            <a:r>
              <a:rPr lang="zh-CN" altLang="en-US" sz="2000" b="1" dirty="0">
                <a:latin typeface="+mn-ea"/>
              </a:rPr>
              <a:t>简述描述</a:t>
            </a:r>
            <a:r>
              <a:rPr lang="en-US" altLang="zh-CN" sz="2000" b="1" dirty="0">
                <a:latin typeface="+mn-ea"/>
              </a:rPr>
              <a:t>LTI </a:t>
            </a:r>
            <a:r>
              <a:rPr lang="zh-CN" altLang="en-US" sz="2000" b="1" dirty="0">
                <a:latin typeface="+mn-ea"/>
              </a:rPr>
              <a:t>系统的方程建立步骤，说明系统的线性时不变特性取决于哪些要素</a:t>
            </a:r>
            <a:endParaRPr lang="en-US" altLang="zh-CN" sz="20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latin typeface="+mn-ea"/>
              </a:rPr>
              <a:t> </a:t>
            </a:r>
            <a:r>
              <a:rPr lang="zh-CN" altLang="en-US" sz="2000" b="1" dirty="0">
                <a:latin typeface="+mn-ea"/>
              </a:rPr>
              <a:t>简述经典法求解</a:t>
            </a:r>
            <a:r>
              <a:rPr lang="en-US" altLang="zh-CN" sz="2000" b="1" dirty="0">
                <a:latin typeface="+mn-ea"/>
              </a:rPr>
              <a:t>LTI</a:t>
            </a:r>
            <a:r>
              <a:rPr lang="zh-CN" altLang="en-US" sz="2000" b="1" dirty="0">
                <a:latin typeface="+mn-ea"/>
              </a:rPr>
              <a:t>系统的主要步骤，说明各步骤求解的响应特征</a:t>
            </a:r>
          </a:p>
        </p:txBody>
      </p:sp>
    </p:spTree>
    <p:extLst>
      <p:ext uri="{BB962C8B-B14F-4D97-AF65-F5344CB8AC3E}">
        <p14:creationId xmlns:p14="http://schemas.microsoft.com/office/powerpoint/2010/main" val="289422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45A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3341AB2-0205-4C1D-8169-E7ACD5C1C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719" y="78808"/>
            <a:ext cx="7055204" cy="212426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BF788FC-37DB-4C67-AA7E-F38183DE549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702" y="2714391"/>
            <a:ext cx="5600700" cy="1866900"/>
          </a:xfrm>
          <a:prstGeom prst="rect">
            <a:avLst/>
          </a:prstGeom>
          <a:noFill/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A556DFF-8FD0-4223-B32E-18975397910F}"/>
              </a:ext>
            </a:extLst>
          </p:cNvPr>
          <p:cNvSpPr/>
          <p:nvPr/>
        </p:nvSpPr>
        <p:spPr>
          <a:xfrm>
            <a:off x="2655796" y="2408166"/>
            <a:ext cx="1622560" cy="3077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</a:t>
            </a:r>
            <a:r>
              <a:rPr lang="zh-CN" altLang="zh-CN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b="1" kern="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实验内容</a:t>
            </a: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DF96CFC-B267-42F4-910B-BE311F91A2CD}"/>
              </a:ext>
            </a:extLst>
          </p:cNvPr>
          <p:cNvGrpSpPr/>
          <p:nvPr/>
        </p:nvGrpSpPr>
        <p:grpSpPr>
          <a:xfrm>
            <a:off x="2841147" y="4760471"/>
            <a:ext cx="5270020" cy="1926567"/>
            <a:chOff x="2655796" y="4346912"/>
            <a:chExt cx="5270020" cy="1926567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5A96DA4-DB1F-407A-9331-2872722B320E}"/>
                </a:ext>
              </a:extLst>
            </p:cNvPr>
            <p:cNvSpPr/>
            <p:nvPr/>
          </p:nvSpPr>
          <p:spPr>
            <a:xfrm>
              <a:off x="2655796" y="4346912"/>
              <a:ext cx="46987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1. </a:t>
              </a:r>
              <a:r>
                <a:rPr lang="zh-CN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连续时间线性时不变系统的微分方程表达和求解</a:t>
              </a:r>
              <a:endParaRPr lang="zh-CN" altLang="en-US" sz="16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CA1A283-66A3-4FD3-9532-AEFD32CDA555}"/>
                </a:ext>
              </a:extLst>
            </p:cNvPr>
            <p:cNvSpPr/>
            <p:nvPr/>
          </p:nvSpPr>
          <p:spPr>
            <a:xfrm>
              <a:off x="2655796" y="5124039"/>
              <a:ext cx="47131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/>
                <a:t>2. </a:t>
              </a:r>
              <a:r>
                <a:rPr lang="zh-CN" altLang="zh-CN" sz="1600" b="1"/>
                <a:t>离散时间线性时不变系统的差分方程表示和求解</a:t>
              </a:r>
              <a:endParaRPr lang="zh-CN" altLang="zh-CN" sz="160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351DD09-ACD0-47FA-BBAE-DB66D0389B7B}"/>
                </a:ext>
              </a:extLst>
            </p:cNvPr>
            <p:cNvSpPr/>
            <p:nvPr/>
          </p:nvSpPr>
          <p:spPr>
            <a:xfrm>
              <a:off x="3383112" y="4709342"/>
              <a:ext cx="371768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相关函数：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impulse()   step()  </a:t>
              </a:r>
              <a:r>
                <a:rPr lang="en-US" altLang="zh-CN" sz="1600" dirty="0" err="1">
                  <a:latin typeface="Times New Roman" panose="02020603050405020304" pitchFamily="18" charset="0"/>
                </a:rPr>
                <a:t>tf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()  </a:t>
              </a:r>
              <a:r>
                <a:rPr lang="en-US" altLang="zh-CN" sz="1600" dirty="0" err="1">
                  <a:latin typeface="Times New Roman" panose="02020603050405020304" pitchFamily="18" charset="0"/>
                </a:rPr>
                <a:t>lsim</a:t>
              </a:r>
              <a:r>
                <a:rPr lang="en-US" altLang="zh-CN" sz="1600" dirty="0">
                  <a:latin typeface="Times New Roman" panose="02020603050405020304" pitchFamily="18" charset="0"/>
                </a:rPr>
                <a:t>() </a:t>
              </a:r>
              <a:endParaRPr lang="zh-CN" altLang="en-US" sz="16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7EC909E-F333-4A26-81C4-62AE393D5780}"/>
                </a:ext>
              </a:extLst>
            </p:cNvPr>
            <p:cNvSpPr/>
            <p:nvPr/>
          </p:nvSpPr>
          <p:spPr>
            <a:xfrm>
              <a:off x="3374570" y="5525019"/>
              <a:ext cx="455124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相关函数：</a:t>
              </a:r>
              <a:r>
                <a:rPr lang="zh-CN" altLang="zh-CN" sz="1600" dirty="0">
                  <a:ea typeface="Times New Roman" panose="02020603050405020304" pitchFamily="18" charset="0"/>
                </a:rPr>
                <a:t> </a:t>
              </a:r>
              <a:r>
                <a:rPr lang="en-US" altLang="zh-CN" sz="1600" dirty="0" err="1">
                  <a:ea typeface="Times New Roman" panose="02020603050405020304" pitchFamily="18" charset="0"/>
                </a:rPr>
                <a:t>impz</a:t>
              </a:r>
              <a:r>
                <a:rPr lang="en-US" altLang="zh-CN" sz="1600" dirty="0">
                  <a:ea typeface="Times New Roman" panose="02020603050405020304" pitchFamily="18" charset="0"/>
                </a:rPr>
                <a:t>(b, a, n)   filter (b, a, x)   conv(</a:t>
              </a:r>
              <a:r>
                <a:rPr lang="en-US" altLang="zh-CN" sz="1600" dirty="0" err="1">
                  <a:ea typeface="Times New Roman" panose="02020603050405020304" pitchFamily="18" charset="0"/>
                </a:rPr>
                <a:t>x,h</a:t>
              </a:r>
              <a:r>
                <a:rPr lang="en-US" altLang="zh-CN" sz="1600" dirty="0">
                  <a:ea typeface="Times New Roman" panose="02020603050405020304" pitchFamily="18" charset="0"/>
                </a:rPr>
                <a:t>)</a:t>
              </a:r>
              <a:endParaRPr lang="zh-CN" altLang="en-US" sz="1600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28A72C2-FFF2-4783-A60B-D799F3703998}"/>
                </a:ext>
              </a:extLst>
            </p:cNvPr>
            <p:cNvSpPr/>
            <p:nvPr/>
          </p:nvSpPr>
          <p:spPr>
            <a:xfrm>
              <a:off x="2655796" y="5973910"/>
              <a:ext cx="4493538" cy="2995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  <a:spcAft>
                  <a:spcPts val="0"/>
                </a:spcAft>
              </a:pPr>
              <a:r>
                <a:rPr lang="en-US" altLang="zh-CN" sz="1600" b="1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zh-CN" altLang="en-US" sz="1600" b="1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验证</a:t>
              </a:r>
              <a:r>
                <a:rPr lang="zh-CN" altLang="zh-CN" sz="1600" b="1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线性时不变系统的线性特征和时不变特征</a:t>
              </a:r>
              <a:endParaRPr lang="zh-CN" altLang="zh-CN" sz="16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549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B6394DF-7CEB-4E22-B55C-3ED95EA1D159}"/>
              </a:ext>
            </a:extLst>
          </p:cNvPr>
          <p:cNvSpPr txBox="1"/>
          <p:nvPr/>
        </p:nvSpPr>
        <p:spPr>
          <a:xfrm>
            <a:off x="4778937" y="502441"/>
            <a:ext cx="3916981" cy="620437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200" b="1" i="0" dirty="0">
                <a:effectLst/>
                <a:latin typeface="Menlo"/>
              </a:rPr>
              <a:t>clear 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 err="1">
                <a:effectLst/>
                <a:latin typeface="Menlo"/>
              </a:rPr>
              <a:t>ts</a:t>
            </a:r>
            <a:r>
              <a:rPr lang="en-US" altLang="zh-CN" sz="1200" b="1" i="0" dirty="0">
                <a:effectLst/>
                <a:latin typeface="Menlo"/>
              </a:rPr>
              <a:t>=0; </a:t>
            </a:r>
            <a:r>
              <a:rPr lang="en-US" altLang="zh-CN" sz="1200" b="1" i="0" dirty="0" err="1">
                <a:effectLst/>
                <a:latin typeface="Menlo"/>
              </a:rPr>
              <a:t>te</a:t>
            </a:r>
            <a:r>
              <a:rPr lang="en-US" altLang="zh-CN" sz="1200" b="1" i="0" dirty="0">
                <a:effectLst/>
                <a:latin typeface="Menlo"/>
              </a:rPr>
              <a:t>=10; dt=0.01;</a:t>
            </a:r>
          </a:p>
          <a:p>
            <a:r>
              <a:rPr lang="en-US" altLang="zh-CN" sz="1200" b="1" i="0" dirty="0">
                <a:effectLst/>
                <a:latin typeface="Menlo"/>
              </a:rPr>
              <a:t>t=</a:t>
            </a:r>
            <a:r>
              <a:rPr lang="en-US" altLang="zh-CN" sz="1200" b="1" i="0" dirty="0" err="1">
                <a:effectLst/>
                <a:latin typeface="Menlo"/>
              </a:rPr>
              <a:t>ts:dt:te</a:t>
            </a:r>
            <a:r>
              <a:rPr lang="en-US" altLang="zh-CN" sz="1200" b="1" i="0" dirty="0">
                <a:effectLst/>
                <a:latin typeface="Menlo"/>
              </a:rPr>
              <a:t>; </a:t>
            </a:r>
          </a:p>
          <a:p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a: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微分方程输出端系数 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b: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微分方程输入端系数</a:t>
            </a:r>
            <a:endParaRPr lang="zh-CN" altLang="en-US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b=5; a=[1 2 65];</a:t>
            </a: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sys=</a:t>
            </a:r>
            <a:r>
              <a:rPr lang="en-US" altLang="zh-CN" sz="1200" b="1" i="0" dirty="0" err="1">
                <a:solidFill>
                  <a:srgbClr val="008013"/>
                </a:solidFill>
                <a:effectLst/>
                <a:latin typeface="Menlo"/>
              </a:rPr>
              <a:t>tf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(</a:t>
            </a:r>
            <a:r>
              <a:rPr lang="en-US" altLang="zh-CN" sz="1200" b="1" i="0" dirty="0" err="1">
                <a:solidFill>
                  <a:srgbClr val="008013"/>
                </a:solidFill>
                <a:effectLst/>
                <a:latin typeface="Menlo"/>
              </a:rPr>
              <a:t>b,a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)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求微分方程代表的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LTI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系统模型</a:t>
            </a:r>
            <a:endParaRPr lang="zh-CN" altLang="en-US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sys=</a:t>
            </a:r>
            <a:r>
              <a:rPr lang="en-US" altLang="zh-CN" sz="1200" b="1" i="0" dirty="0" err="1">
                <a:effectLst/>
                <a:latin typeface="Menlo"/>
              </a:rPr>
              <a:t>tf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 err="1">
                <a:effectLst/>
                <a:latin typeface="Menlo"/>
              </a:rPr>
              <a:t>b,a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  <a:p>
            <a:br>
              <a:rPr lang="en-US" altLang="zh-CN" sz="1200" b="1" i="0" dirty="0">
                <a:effectLst/>
                <a:latin typeface="Menlo"/>
              </a:rPr>
            </a:b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函数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:impulse(</a:t>
            </a:r>
            <a:r>
              <a:rPr lang="en-US" altLang="zh-CN" sz="1200" b="1" i="0" dirty="0" err="1">
                <a:solidFill>
                  <a:srgbClr val="008013"/>
                </a:solidFill>
                <a:effectLst/>
                <a:latin typeface="Menlo"/>
              </a:rPr>
              <a:t>sys,t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)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单位冲激响应</a:t>
            </a:r>
            <a:endParaRPr lang="zh-CN" altLang="en-US" sz="1200" b="1" i="0" dirty="0">
              <a:effectLst/>
              <a:latin typeface="Menlo"/>
            </a:endParaRPr>
          </a:p>
          <a:p>
            <a:r>
              <a:rPr lang="en-US" altLang="zh-CN" sz="1200" b="1" i="0" dirty="0" err="1">
                <a:effectLst/>
                <a:latin typeface="Menlo"/>
              </a:rPr>
              <a:t>r_h</a:t>
            </a:r>
            <a:r>
              <a:rPr lang="en-US" altLang="zh-CN" sz="1200" b="1" i="0" dirty="0">
                <a:effectLst/>
                <a:latin typeface="Menlo"/>
              </a:rPr>
              <a:t>=impulse(</a:t>
            </a:r>
            <a:r>
              <a:rPr lang="en-US" altLang="zh-CN" sz="1200" b="1" i="0" dirty="0" err="1">
                <a:effectLst/>
                <a:latin typeface="Menlo"/>
              </a:rPr>
              <a:t>sys,t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subplot(3,1,1)</a:t>
            </a:r>
          </a:p>
          <a:p>
            <a:r>
              <a:rPr lang="en-US" altLang="zh-CN" sz="1200" b="1" i="0" dirty="0">
                <a:effectLst/>
                <a:latin typeface="Menlo"/>
              </a:rPr>
              <a:t>plot(t,r_h,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'r'</a:t>
            </a:r>
            <a:r>
              <a:rPr lang="en-US" altLang="zh-CN" sz="1200" b="1" i="0" dirty="0">
                <a:effectLst/>
                <a:latin typeface="Menlo"/>
              </a:rPr>
              <a:t>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'LineWidth'</a:t>
            </a:r>
            <a:r>
              <a:rPr lang="en-US" altLang="zh-CN" sz="1200" b="1" i="0" dirty="0">
                <a:effectLst/>
                <a:latin typeface="Menlo"/>
              </a:rPr>
              <a:t>,1); </a:t>
            </a:r>
          </a:p>
          <a:p>
            <a:r>
              <a:rPr lang="en-US" altLang="zh-CN" sz="1200" b="1" i="0" dirty="0" err="1">
                <a:effectLst/>
                <a:latin typeface="Menlo"/>
              </a:rPr>
              <a:t>xlabel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't' </a:t>
            </a:r>
            <a:r>
              <a:rPr lang="en-US" altLang="zh-CN" sz="1200" b="1" i="0" dirty="0">
                <a:effectLst/>
                <a:latin typeface="Menlo"/>
              </a:rPr>
              <a:t>); </a:t>
            </a:r>
            <a:r>
              <a:rPr lang="en-US" altLang="zh-CN" sz="1200" b="1" i="0" dirty="0" err="1">
                <a:effectLst/>
                <a:latin typeface="Menlo"/>
              </a:rPr>
              <a:t>ylabel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'h(t)'</a:t>
            </a:r>
            <a:r>
              <a:rPr lang="en-US" altLang="zh-CN" sz="1200" b="1" i="0" dirty="0">
                <a:effectLst/>
                <a:latin typeface="Menlo"/>
              </a:rPr>
              <a:t>); grid 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on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title(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"impulse(</a:t>
            </a:r>
            <a:r>
              <a:rPr lang="en-US" altLang="zh-CN" sz="1200" b="1" i="0" dirty="0" err="1">
                <a:solidFill>
                  <a:srgbClr val="A709F5"/>
                </a:solidFill>
                <a:effectLst/>
                <a:latin typeface="Menlo"/>
              </a:rPr>
              <a:t>sys,t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) : </a:t>
            </a:r>
            <a:r>
              <a:rPr lang="zh-CN" altLang="en-US" sz="1200" b="1" i="0" dirty="0">
                <a:solidFill>
                  <a:srgbClr val="A709F5"/>
                </a:solidFill>
                <a:effectLst/>
                <a:latin typeface="Menlo"/>
              </a:rPr>
              <a:t>单位冲激响应 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h(t)"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  <a:p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函数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: step(</a:t>
            </a:r>
            <a:r>
              <a:rPr lang="en-US" altLang="zh-CN" sz="1200" b="1" i="0" dirty="0" err="1">
                <a:solidFill>
                  <a:srgbClr val="008013"/>
                </a:solidFill>
                <a:effectLst/>
                <a:latin typeface="Menlo"/>
              </a:rPr>
              <a:t>sys,t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)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系统单位阶跃响应</a:t>
            </a:r>
            <a:endParaRPr lang="zh-CN" altLang="en-US" sz="1200" b="1" i="0" dirty="0">
              <a:effectLst/>
              <a:latin typeface="Menlo"/>
            </a:endParaRPr>
          </a:p>
          <a:p>
            <a:r>
              <a:rPr lang="en-US" altLang="zh-CN" sz="1200" b="1" i="0" dirty="0" err="1">
                <a:effectLst/>
                <a:latin typeface="Menlo"/>
              </a:rPr>
              <a:t>r_step</a:t>
            </a:r>
            <a:r>
              <a:rPr lang="en-US" altLang="zh-CN" sz="1200" b="1" i="0" dirty="0">
                <a:effectLst/>
                <a:latin typeface="Menlo"/>
              </a:rPr>
              <a:t>=step(</a:t>
            </a:r>
            <a:r>
              <a:rPr lang="en-US" altLang="zh-CN" sz="1200" b="1" i="0" dirty="0" err="1">
                <a:effectLst/>
                <a:latin typeface="Menlo"/>
              </a:rPr>
              <a:t>sys,t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subplot(3,1,2)</a:t>
            </a:r>
          </a:p>
          <a:p>
            <a:r>
              <a:rPr lang="en-US" altLang="zh-CN" sz="1200" b="1" i="0" dirty="0">
                <a:effectLst/>
                <a:latin typeface="Menlo"/>
              </a:rPr>
              <a:t>plot(t,r_step,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'b'</a:t>
            </a:r>
            <a:r>
              <a:rPr lang="en-US" altLang="zh-CN" sz="1200" b="1" i="0" dirty="0">
                <a:effectLst/>
                <a:latin typeface="Menlo"/>
              </a:rPr>
              <a:t>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'LineWidth'</a:t>
            </a:r>
            <a:r>
              <a:rPr lang="en-US" altLang="zh-CN" sz="1200" b="1" i="0" dirty="0">
                <a:effectLst/>
                <a:latin typeface="Menlo"/>
              </a:rPr>
              <a:t>,1); </a:t>
            </a:r>
          </a:p>
          <a:p>
            <a:r>
              <a:rPr lang="en-US" altLang="zh-CN" sz="1200" b="1" i="0" dirty="0" err="1">
                <a:effectLst/>
                <a:latin typeface="Menlo"/>
              </a:rPr>
              <a:t>xlabel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't'</a:t>
            </a:r>
            <a:r>
              <a:rPr lang="en-US" altLang="zh-CN" sz="1200" b="1" i="0" dirty="0">
                <a:effectLst/>
                <a:latin typeface="Menlo"/>
              </a:rPr>
              <a:t>); </a:t>
            </a:r>
            <a:r>
              <a:rPr lang="en-US" altLang="zh-CN" sz="1200" b="1" i="0" dirty="0" err="1">
                <a:effectLst/>
                <a:latin typeface="Menlo"/>
              </a:rPr>
              <a:t>ylabel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'g(t)'</a:t>
            </a:r>
            <a:r>
              <a:rPr lang="en-US" altLang="zh-CN" sz="1200" b="1" i="0" dirty="0">
                <a:effectLst/>
                <a:latin typeface="Menlo"/>
              </a:rPr>
              <a:t>); grid 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on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title(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"step(</a:t>
            </a:r>
            <a:r>
              <a:rPr lang="en-US" altLang="zh-CN" sz="1200" b="1" i="0" dirty="0" err="1">
                <a:solidFill>
                  <a:srgbClr val="A709F5"/>
                </a:solidFill>
                <a:effectLst/>
                <a:latin typeface="Menlo"/>
              </a:rPr>
              <a:t>sys,t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): </a:t>
            </a:r>
            <a:r>
              <a:rPr lang="zh-CN" altLang="en-US" sz="1200" b="1" i="0" dirty="0">
                <a:solidFill>
                  <a:srgbClr val="A709F5"/>
                </a:solidFill>
                <a:effectLst/>
                <a:latin typeface="Menlo"/>
              </a:rPr>
              <a:t>单位阶跃响应 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g(t)"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  <a:p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函数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: </a:t>
            </a:r>
            <a:r>
              <a:rPr lang="en-US" altLang="zh-CN" sz="1200" b="1" i="0" dirty="0" err="1">
                <a:solidFill>
                  <a:srgbClr val="008013"/>
                </a:solidFill>
                <a:effectLst/>
                <a:latin typeface="Menlo"/>
              </a:rPr>
              <a:t>lsim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(</a:t>
            </a:r>
            <a:r>
              <a:rPr lang="en-US" altLang="zh-CN" sz="1200" b="1" i="0" dirty="0" err="1">
                <a:solidFill>
                  <a:srgbClr val="008013"/>
                </a:solidFill>
                <a:effectLst/>
                <a:latin typeface="Menlo"/>
              </a:rPr>
              <a:t>sys,x,t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) 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系统零状态响应</a:t>
            </a:r>
            <a:endParaRPr lang="zh-CN" altLang="en-US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E=sin(20*t);  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输入信号</a:t>
            </a:r>
            <a:endParaRPr lang="zh-CN" altLang="en-US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R=</a:t>
            </a:r>
            <a:r>
              <a:rPr lang="en-US" altLang="zh-CN" sz="1200" b="1" i="0" dirty="0" err="1">
                <a:effectLst/>
                <a:latin typeface="Menlo"/>
              </a:rPr>
              <a:t>lsim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 err="1">
                <a:effectLst/>
                <a:latin typeface="Menlo"/>
              </a:rPr>
              <a:t>sys,E,t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subplot(3,1,3)</a:t>
            </a:r>
          </a:p>
          <a:p>
            <a:r>
              <a:rPr lang="en-US" altLang="zh-CN" sz="1200" b="1" i="0" dirty="0">
                <a:effectLst/>
                <a:latin typeface="Menlo"/>
              </a:rPr>
              <a:t>plot(t,R,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'k'</a:t>
            </a:r>
            <a:r>
              <a:rPr lang="en-US" altLang="zh-CN" sz="1200" b="1" i="0" dirty="0">
                <a:effectLst/>
                <a:latin typeface="Menlo"/>
              </a:rPr>
              <a:t>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'LineWidth'</a:t>
            </a:r>
            <a:r>
              <a:rPr lang="en-US" altLang="zh-CN" sz="1200" b="1" i="0" dirty="0">
                <a:effectLst/>
                <a:latin typeface="Menlo"/>
              </a:rPr>
              <a:t>,1); </a:t>
            </a:r>
          </a:p>
          <a:p>
            <a:r>
              <a:rPr lang="en-US" altLang="zh-CN" sz="1200" b="1" i="0" dirty="0" err="1">
                <a:effectLst/>
                <a:latin typeface="Menlo"/>
              </a:rPr>
              <a:t>xlabel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't'</a:t>
            </a:r>
            <a:r>
              <a:rPr lang="en-US" altLang="zh-CN" sz="1200" b="1" i="0" dirty="0">
                <a:effectLst/>
                <a:latin typeface="Menlo"/>
              </a:rPr>
              <a:t>); </a:t>
            </a:r>
            <a:r>
              <a:rPr lang="en-US" altLang="zh-CN" sz="1200" b="1" i="0" dirty="0" err="1">
                <a:effectLst/>
                <a:latin typeface="Menlo"/>
              </a:rPr>
              <a:t>ylabel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'R(t)'</a:t>
            </a:r>
            <a:r>
              <a:rPr lang="en-US" altLang="zh-CN" sz="1200" b="1" i="0" dirty="0">
                <a:effectLst/>
                <a:latin typeface="Menlo"/>
              </a:rPr>
              <a:t>); grid 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on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title(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"</a:t>
            </a:r>
            <a:r>
              <a:rPr lang="zh-CN" altLang="en-US" sz="1200" b="1" i="0" dirty="0">
                <a:solidFill>
                  <a:srgbClr val="A709F5"/>
                </a:solidFill>
                <a:effectLst/>
                <a:latin typeface="Menlo"/>
              </a:rPr>
              <a:t>激励：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sin(20t)    </a:t>
            </a:r>
            <a:r>
              <a:rPr lang="zh-CN" altLang="en-US" sz="1200" b="1" i="0" dirty="0">
                <a:solidFill>
                  <a:srgbClr val="A709F5"/>
                </a:solidFill>
                <a:effectLst/>
                <a:latin typeface="Menlo"/>
              </a:rPr>
              <a:t>系统零状态响应：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R=</a:t>
            </a:r>
            <a:r>
              <a:rPr lang="en-US" altLang="zh-CN" sz="1200" b="1" i="0" dirty="0" err="1">
                <a:solidFill>
                  <a:srgbClr val="A709F5"/>
                </a:solidFill>
                <a:effectLst/>
                <a:latin typeface="Menlo"/>
              </a:rPr>
              <a:t>lsim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(</a:t>
            </a:r>
            <a:r>
              <a:rPr lang="en-US" altLang="zh-CN" sz="1200" b="1" i="0" dirty="0" err="1">
                <a:solidFill>
                  <a:srgbClr val="A709F5"/>
                </a:solidFill>
                <a:effectLst/>
                <a:latin typeface="Menlo"/>
              </a:rPr>
              <a:t>sys,x,t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) "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9EEF4EB-32F6-4183-8EB3-681C0E9D89AC}"/>
                  </a:ext>
                </a:extLst>
              </p:cNvPr>
              <p:cNvSpPr txBox="1"/>
              <p:nvPr/>
            </p:nvSpPr>
            <p:spPr>
              <a:xfrm>
                <a:off x="195073" y="1093845"/>
                <a:ext cx="4242815" cy="59272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zh-CN" altLang="en-US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zh-CN" altLang="en-US" sz="1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zh-CN" altLang="en-US" sz="1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f>
                        <m:fPr>
                          <m:ctrlP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zh-CN" altLang="en-US" sz="1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zh-CN" altLang="en-US" sz="1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𝟔𝟓</m:t>
                      </m:r>
                      <m:r>
                        <a:rPr lang="zh-CN" altLang="en-US" sz="1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d>
                        <m:dPr>
                          <m:ctrlP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9EEF4EB-32F6-4183-8EB3-681C0E9D8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73" y="1093845"/>
                <a:ext cx="4242815" cy="5927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5FA912FC-6F99-46B9-9F00-0D3C46B9F442}"/>
              </a:ext>
            </a:extLst>
          </p:cNvPr>
          <p:cNvSpPr txBox="1"/>
          <p:nvPr/>
        </p:nvSpPr>
        <p:spPr>
          <a:xfrm>
            <a:off x="218431" y="117721"/>
            <a:ext cx="4340351" cy="76944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zh-C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连续时间系统求解相关函数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示例</a:t>
            </a:r>
            <a:endParaRPr lang="en-US" altLang="zh-CN" sz="20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b="1" dirty="0" err="1">
                <a:solidFill>
                  <a:srgbClr val="FFC000"/>
                </a:solidFill>
                <a:latin typeface="Times New Roman" panose="02020603050405020304" pitchFamily="18" charset="0"/>
              </a:rPr>
              <a:t>tf</a:t>
            </a:r>
            <a:r>
              <a:rPr lang="en-US" altLang="zh-CN" sz="24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    impulse   step  </a:t>
            </a:r>
            <a:r>
              <a:rPr lang="en-US" altLang="zh-CN" sz="2400" b="1" dirty="0" err="1">
                <a:solidFill>
                  <a:srgbClr val="FFC000"/>
                </a:solidFill>
                <a:latin typeface="Times New Roman" panose="02020603050405020304" pitchFamily="18" charset="0"/>
              </a:rPr>
              <a:t>lsim</a:t>
            </a:r>
            <a:r>
              <a:rPr lang="en-US" altLang="zh-CN" sz="24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  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95840BD-81B0-46AA-973F-4E95AD5F0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340" y="1535391"/>
            <a:ext cx="3356892" cy="517142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2190567E-B028-4823-BF7B-6524097E5D80}"/>
              </a:ext>
            </a:extLst>
          </p:cNvPr>
          <p:cNvSpPr txBox="1"/>
          <p:nvPr/>
        </p:nvSpPr>
        <p:spPr>
          <a:xfrm>
            <a:off x="9531960" y="1307410"/>
            <a:ext cx="15952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Lab2-1</a:t>
            </a:r>
            <a:endParaRPr lang="zh-CN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C36F442-9443-430D-B93B-31452CBC55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5"/>
          <a:stretch/>
        </p:blipFill>
        <p:spPr>
          <a:xfrm>
            <a:off x="543505" y="1815562"/>
            <a:ext cx="3690202" cy="48912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5035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B6394DF-7CEB-4E22-B55C-3ED95EA1D159}"/>
              </a:ext>
            </a:extLst>
          </p:cNvPr>
          <p:cNvSpPr txBox="1"/>
          <p:nvPr/>
        </p:nvSpPr>
        <p:spPr>
          <a:xfrm>
            <a:off x="4937699" y="44568"/>
            <a:ext cx="3529430" cy="6858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200" b="1" i="0" dirty="0">
                <a:effectLst/>
                <a:latin typeface="Menlo"/>
              </a:rPr>
              <a:t>clear 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NN=100;   k=0:NN; 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响应长度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a: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差分方程输出端系数 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b: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差分方程输入端系数</a:t>
            </a:r>
            <a:endParaRPr lang="zh-CN" altLang="en-US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a=[1.0  0.95]; b=[1]; </a:t>
            </a:r>
          </a:p>
          <a:p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单位脉冲响应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: </a:t>
            </a:r>
            <a:r>
              <a:rPr lang="en-US" altLang="zh-CN" sz="1200" b="1" i="0" dirty="0" err="1">
                <a:solidFill>
                  <a:srgbClr val="008013"/>
                </a:solidFill>
                <a:effectLst/>
                <a:latin typeface="Menlo"/>
              </a:rPr>
              <a:t>impz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()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 err="1">
                <a:effectLst/>
                <a:latin typeface="Menlo"/>
              </a:rPr>
              <a:t>r_h</a:t>
            </a:r>
            <a:r>
              <a:rPr lang="en-US" altLang="zh-CN" sz="1200" b="1" i="0" dirty="0">
                <a:effectLst/>
                <a:latin typeface="Menlo"/>
              </a:rPr>
              <a:t>=</a:t>
            </a:r>
            <a:r>
              <a:rPr lang="en-US" altLang="zh-CN" sz="1200" b="1" i="0" dirty="0" err="1">
                <a:effectLst/>
                <a:latin typeface="Menlo"/>
              </a:rPr>
              <a:t>impz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 err="1">
                <a:effectLst/>
                <a:latin typeface="Menlo"/>
              </a:rPr>
              <a:t>b,a,k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subplot(4,1,1);</a:t>
            </a:r>
          </a:p>
          <a:p>
            <a:r>
              <a:rPr lang="en-US" altLang="zh-CN" sz="1200" b="1" i="0" dirty="0">
                <a:effectLst/>
                <a:latin typeface="Menlo"/>
              </a:rPr>
              <a:t>stem(k,r_h,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'filled'</a:t>
            </a:r>
            <a:r>
              <a:rPr lang="en-US" altLang="zh-CN" sz="1200" b="1" i="0" dirty="0">
                <a:effectLst/>
                <a:latin typeface="Menlo"/>
              </a:rPr>
              <a:t>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'MarkerSize'</a:t>
            </a:r>
            <a:r>
              <a:rPr lang="en-US" altLang="zh-CN" sz="1200" b="1" i="0" dirty="0">
                <a:effectLst/>
                <a:latin typeface="Menlo"/>
              </a:rPr>
              <a:t>,3);</a:t>
            </a:r>
          </a:p>
          <a:p>
            <a:r>
              <a:rPr lang="en-US" altLang="zh-CN" sz="1200" b="1" i="0" dirty="0">
                <a:effectLst/>
                <a:latin typeface="Menlo"/>
              </a:rPr>
              <a:t>title(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 </a:t>
            </a:r>
            <a:r>
              <a:rPr lang="zh-CN" altLang="en-US" sz="1200" b="1" i="0" dirty="0">
                <a:solidFill>
                  <a:srgbClr val="A709F5"/>
                </a:solidFill>
                <a:effectLst/>
                <a:latin typeface="Menlo"/>
              </a:rPr>
              <a:t>单位脉冲响应 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h[n]</a:t>
            </a:r>
            <a:r>
              <a:rPr lang="zh-CN" altLang="en-US" sz="1200" b="1" i="0" dirty="0">
                <a:solidFill>
                  <a:srgbClr val="A709F5"/>
                </a:solidFill>
                <a:effectLst/>
                <a:latin typeface="Menlo"/>
              </a:rPr>
              <a:t>： </a:t>
            </a:r>
            <a:r>
              <a:rPr lang="en-US" altLang="zh-CN" sz="1200" b="1" i="0" dirty="0" err="1">
                <a:solidFill>
                  <a:srgbClr val="A709F5"/>
                </a:solidFill>
                <a:effectLst/>
                <a:latin typeface="Menlo"/>
              </a:rPr>
              <a:t>impz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(</a:t>
            </a:r>
            <a:r>
              <a:rPr lang="en-US" altLang="zh-CN" sz="1200" b="1" i="0" dirty="0" err="1">
                <a:solidFill>
                  <a:srgbClr val="A709F5"/>
                </a:solidFill>
                <a:effectLst/>
                <a:latin typeface="Menlo"/>
              </a:rPr>
              <a:t>b,a,n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)'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  <a:p>
            <a:r>
              <a:rPr lang="en-US" altLang="zh-CN" sz="1200" b="1" i="0" dirty="0" err="1">
                <a:effectLst/>
                <a:latin typeface="Menlo"/>
              </a:rPr>
              <a:t>xlabel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'n’</a:t>
            </a:r>
            <a:r>
              <a:rPr lang="en-US" altLang="zh-CN" sz="1200" b="1" i="0" dirty="0">
                <a:effectLst/>
                <a:latin typeface="Menlo"/>
              </a:rPr>
              <a:t>);  </a:t>
            </a:r>
            <a:r>
              <a:rPr lang="en-US" altLang="zh-CN" sz="1200" b="1" i="0" dirty="0" err="1">
                <a:effectLst/>
                <a:latin typeface="Menlo"/>
              </a:rPr>
              <a:t>ylabel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'h[n]'</a:t>
            </a:r>
            <a:r>
              <a:rPr lang="en-US" altLang="zh-CN" sz="1200" b="1" i="0" dirty="0">
                <a:effectLst/>
                <a:latin typeface="Menlo"/>
              </a:rPr>
              <a:t>); </a:t>
            </a:r>
          </a:p>
          <a:p>
            <a:endParaRPr lang="en-US" altLang="zh-CN" sz="1200" b="1" i="0" dirty="0">
              <a:solidFill>
                <a:srgbClr val="008013"/>
              </a:solidFill>
              <a:effectLst/>
              <a:latin typeface="Menlo"/>
            </a:endParaRPr>
          </a:p>
          <a:p>
            <a:r>
              <a:rPr lang="en-US" altLang="zh-CN" sz="1200" b="1" i="0" dirty="0" err="1">
                <a:effectLst/>
                <a:latin typeface="Menlo"/>
              </a:rPr>
              <a:t>e_input</a:t>
            </a:r>
            <a:r>
              <a:rPr lang="en-US" altLang="zh-CN" sz="1200" b="1" i="0" dirty="0">
                <a:effectLst/>
                <a:latin typeface="Menlo"/>
              </a:rPr>
              <a:t>=cos(1*pi*k/9);  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激励信号</a:t>
            </a:r>
            <a:endParaRPr lang="zh-CN" altLang="en-US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subplot(4,1,2);</a:t>
            </a:r>
          </a:p>
          <a:p>
            <a:r>
              <a:rPr lang="en-US" altLang="zh-CN" sz="1200" b="1" i="0" dirty="0">
                <a:effectLst/>
                <a:latin typeface="Menlo"/>
              </a:rPr>
              <a:t>stem(k,e_input,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'filled'</a:t>
            </a:r>
            <a:r>
              <a:rPr lang="en-US" altLang="zh-CN" sz="1200" b="1" i="0" dirty="0">
                <a:effectLst/>
                <a:latin typeface="Menlo"/>
              </a:rPr>
              <a:t>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'MarkerSize'</a:t>
            </a:r>
            <a:r>
              <a:rPr lang="en-US" altLang="zh-CN" sz="1200" b="1" i="0" dirty="0">
                <a:effectLst/>
                <a:latin typeface="Menlo"/>
              </a:rPr>
              <a:t>,3);</a:t>
            </a:r>
          </a:p>
          <a:p>
            <a:r>
              <a:rPr lang="en-US" altLang="zh-CN" sz="1200" b="1" i="0" dirty="0">
                <a:effectLst/>
                <a:latin typeface="Menlo"/>
              </a:rPr>
              <a:t>title(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 </a:t>
            </a:r>
            <a:r>
              <a:rPr lang="zh-CN" altLang="en-US" sz="1200" b="1" i="0" dirty="0">
                <a:solidFill>
                  <a:srgbClr val="A709F5"/>
                </a:solidFill>
                <a:effectLst/>
                <a:latin typeface="Menlo"/>
              </a:rPr>
              <a:t>激励函数 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E[n]= cos(n*pi/9)'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  <a:p>
            <a:r>
              <a:rPr lang="en-US" altLang="zh-CN" sz="1200" b="1" i="0" dirty="0" err="1">
                <a:effectLst/>
                <a:latin typeface="Menlo"/>
              </a:rPr>
              <a:t>xlabel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'n’</a:t>
            </a:r>
            <a:r>
              <a:rPr lang="en-US" altLang="zh-CN" sz="1200" b="1" i="0" dirty="0">
                <a:effectLst/>
                <a:latin typeface="Menlo"/>
              </a:rPr>
              <a:t>);  </a:t>
            </a:r>
            <a:r>
              <a:rPr lang="en-US" altLang="zh-CN" sz="1200" b="1" i="0" dirty="0" err="1">
                <a:effectLst/>
                <a:latin typeface="Menlo"/>
              </a:rPr>
              <a:t>ylabel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'E[n]'</a:t>
            </a:r>
            <a:r>
              <a:rPr lang="en-US" altLang="zh-CN" sz="1200" b="1" i="0" dirty="0">
                <a:effectLst/>
                <a:latin typeface="Menlo"/>
              </a:rPr>
              <a:t>); </a:t>
            </a:r>
          </a:p>
          <a:p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系统函数求解响应 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filter()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 err="1">
                <a:effectLst/>
                <a:latin typeface="Menlo"/>
              </a:rPr>
              <a:t>R_filter</a:t>
            </a:r>
            <a:r>
              <a:rPr lang="en-US" altLang="zh-CN" sz="1200" b="1" i="0" dirty="0">
                <a:effectLst/>
                <a:latin typeface="Menlo"/>
              </a:rPr>
              <a:t>=filter(</a:t>
            </a:r>
            <a:r>
              <a:rPr lang="en-US" altLang="zh-CN" sz="1200" b="1" i="0" dirty="0" err="1">
                <a:effectLst/>
                <a:latin typeface="Menlo"/>
              </a:rPr>
              <a:t>b,a,e_input</a:t>
            </a:r>
            <a:r>
              <a:rPr lang="en-US" altLang="zh-CN" sz="1200" b="1" i="0" dirty="0">
                <a:effectLst/>
                <a:latin typeface="Menlo"/>
              </a:rPr>
              <a:t>); </a:t>
            </a: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subplot(4,1,3);</a:t>
            </a:r>
          </a:p>
          <a:p>
            <a:r>
              <a:rPr lang="en-US" altLang="zh-CN" sz="1200" b="1" i="0" dirty="0">
                <a:effectLst/>
                <a:latin typeface="Menlo"/>
              </a:rPr>
              <a:t>stem(k,R_filter,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'filled'</a:t>
            </a:r>
            <a:r>
              <a:rPr lang="en-US" altLang="zh-CN" sz="1200" b="1" i="0" dirty="0">
                <a:effectLst/>
                <a:latin typeface="Menlo"/>
              </a:rPr>
              <a:t>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'MarkerSize'</a:t>
            </a:r>
            <a:r>
              <a:rPr lang="en-US" altLang="zh-CN" sz="1200" b="1" i="0" dirty="0">
                <a:effectLst/>
                <a:latin typeface="Menlo"/>
              </a:rPr>
              <a:t>,3);</a:t>
            </a:r>
          </a:p>
          <a:p>
            <a:r>
              <a:rPr lang="en-US" altLang="zh-CN" sz="1200" b="1" i="0" dirty="0">
                <a:effectLst/>
                <a:latin typeface="Menlo"/>
              </a:rPr>
              <a:t>title(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 filter</a:t>
            </a:r>
            <a:r>
              <a:rPr lang="zh-CN" altLang="en-US" sz="1200" b="1" i="0" dirty="0">
                <a:solidFill>
                  <a:srgbClr val="A709F5"/>
                </a:solidFill>
                <a:effectLst/>
                <a:latin typeface="Menlo"/>
              </a:rPr>
              <a:t>函数： 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R[n]=filter(</a:t>
            </a:r>
            <a:r>
              <a:rPr lang="en-US" altLang="zh-CN" sz="1200" b="1" i="0" dirty="0" err="1">
                <a:solidFill>
                  <a:srgbClr val="A709F5"/>
                </a:solidFill>
                <a:effectLst/>
                <a:latin typeface="Menlo"/>
              </a:rPr>
              <a:t>b,a,E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[n]) '</a:t>
            </a:r>
            <a:r>
              <a:rPr lang="en-US" altLang="zh-CN" sz="1200" b="1" i="0" dirty="0">
                <a:effectLst/>
                <a:latin typeface="Menlo"/>
              </a:rPr>
              <a:t> );</a:t>
            </a:r>
          </a:p>
          <a:p>
            <a:r>
              <a:rPr lang="en-US" altLang="zh-CN" sz="1200" b="1" i="0" dirty="0" err="1">
                <a:effectLst/>
                <a:latin typeface="Menlo"/>
              </a:rPr>
              <a:t>xlabel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'n’</a:t>
            </a:r>
            <a:r>
              <a:rPr lang="en-US" altLang="zh-CN" sz="1200" b="1" i="0" dirty="0">
                <a:effectLst/>
                <a:latin typeface="Menlo"/>
              </a:rPr>
              <a:t>);  </a:t>
            </a:r>
            <a:r>
              <a:rPr lang="en-US" altLang="zh-CN" sz="1200" b="1" i="0" dirty="0" err="1">
                <a:effectLst/>
                <a:latin typeface="Menlo"/>
              </a:rPr>
              <a:t>ylabel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'R[n]'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  <a:p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200" b="1" i="0" dirty="0">
                <a:solidFill>
                  <a:srgbClr val="008013"/>
                </a:solidFill>
                <a:effectLst/>
                <a:latin typeface="Menlo"/>
              </a:rPr>
              <a:t>卷积函数求解响应</a:t>
            </a:r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 conv()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A=</a:t>
            </a:r>
            <a:r>
              <a:rPr lang="en-US" altLang="zh-CN" sz="1200" b="1" i="0" dirty="0" err="1">
                <a:effectLst/>
                <a:latin typeface="Menlo"/>
              </a:rPr>
              <a:t>r_h</a:t>
            </a:r>
            <a:r>
              <a:rPr lang="en-US" altLang="zh-CN" sz="1200" b="1" i="0" dirty="0">
                <a:effectLst/>
                <a:latin typeface="Menlo"/>
              </a:rPr>
              <a:t>'; </a:t>
            </a:r>
          </a:p>
          <a:p>
            <a:r>
              <a:rPr lang="en-US" altLang="zh-CN" sz="1200" b="1" i="0" dirty="0" err="1">
                <a:effectLst/>
                <a:latin typeface="Menlo"/>
              </a:rPr>
              <a:t>conv_AB</a:t>
            </a:r>
            <a:r>
              <a:rPr lang="en-US" altLang="zh-CN" sz="1200" b="1" i="0" dirty="0">
                <a:effectLst/>
                <a:latin typeface="Menlo"/>
              </a:rPr>
              <a:t>=conv(</a:t>
            </a:r>
            <a:r>
              <a:rPr lang="en-US" altLang="zh-CN" sz="1200" b="1" i="0" dirty="0" err="1">
                <a:effectLst/>
                <a:latin typeface="Menlo"/>
              </a:rPr>
              <a:t>A,e_input,</a:t>
            </a:r>
            <a:r>
              <a:rPr lang="en-US" altLang="zh-CN" sz="1200" b="1" i="0" dirty="0" err="1">
                <a:solidFill>
                  <a:srgbClr val="A709F5"/>
                </a:solidFill>
                <a:effectLst/>
                <a:latin typeface="Menlo"/>
              </a:rPr>
              <a:t>"full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"</a:t>
            </a:r>
            <a:r>
              <a:rPr lang="en-US" altLang="zh-CN" sz="1200" b="1" i="0" dirty="0">
                <a:effectLst/>
                <a:latin typeface="Menlo"/>
              </a:rPr>
              <a:t>); </a:t>
            </a:r>
          </a:p>
          <a:p>
            <a:r>
              <a:rPr lang="en-US" altLang="zh-CN" sz="1200" b="1" i="0" dirty="0">
                <a:solidFill>
                  <a:srgbClr val="008013"/>
                </a:solidFill>
                <a:effectLst/>
                <a:latin typeface="Menlo"/>
              </a:rPr>
              <a:t>%</a:t>
            </a:r>
            <a:endParaRPr lang="en-US" altLang="zh-CN" sz="1200" b="1" i="0" dirty="0">
              <a:effectLst/>
              <a:latin typeface="Menlo"/>
            </a:endParaRPr>
          </a:p>
          <a:p>
            <a:r>
              <a:rPr lang="en-US" altLang="zh-CN" sz="1200" b="1" i="0" dirty="0">
                <a:effectLst/>
                <a:latin typeface="Menlo"/>
              </a:rPr>
              <a:t>subplot(4,1,4);</a:t>
            </a:r>
          </a:p>
          <a:p>
            <a:r>
              <a:rPr lang="en-US" altLang="zh-CN" sz="1200" b="1" i="0" dirty="0">
                <a:effectLst/>
                <a:latin typeface="Menlo"/>
              </a:rPr>
              <a:t>stem(</a:t>
            </a:r>
            <a:r>
              <a:rPr lang="en-US" altLang="zh-CN" sz="1200" b="1" i="0" dirty="0" err="1">
                <a:effectLst/>
                <a:latin typeface="Menlo"/>
              </a:rPr>
              <a:t>k,conv_AB</a:t>
            </a:r>
            <a:r>
              <a:rPr lang="en-US" altLang="zh-CN" sz="1200" b="1" i="0" dirty="0">
                <a:effectLst/>
                <a:latin typeface="Menlo"/>
              </a:rPr>
              <a:t>(1:NN+1),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'filled'</a:t>
            </a:r>
            <a:r>
              <a:rPr lang="en-US" altLang="zh-CN" sz="1200" b="1" i="0" dirty="0">
                <a:effectLst/>
                <a:latin typeface="Menlo"/>
              </a:rPr>
              <a:t>,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'MarkerSize'</a:t>
            </a:r>
            <a:r>
              <a:rPr lang="en-US" altLang="zh-CN" sz="1200" b="1" i="0" dirty="0">
                <a:effectLst/>
                <a:latin typeface="Menlo"/>
              </a:rPr>
              <a:t>,3);</a:t>
            </a:r>
          </a:p>
          <a:p>
            <a:r>
              <a:rPr lang="en-US" altLang="zh-CN" sz="1200" b="1" i="0" dirty="0">
                <a:effectLst/>
                <a:latin typeface="Menlo"/>
              </a:rPr>
              <a:t>title(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‘ </a:t>
            </a:r>
            <a:r>
              <a:rPr lang="zh-CN" altLang="en-US" sz="1200" b="1" i="0" dirty="0">
                <a:solidFill>
                  <a:srgbClr val="A709F5"/>
                </a:solidFill>
                <a:effectLst/>
                <a:latin typeface="Menlo"/>
              </a:rPr>
              <a:t>卷积</a:t>
            </a:r>
            <a:r>
              <a:rPr lang="zh-CN" altLang="en-US" sz="1200" b="1" dirty="0">
                <a:solidFill>
                  <a:srgbClr val="A709F5"/>
                </a:solidFill>
                <a:latin typeface="Menlo"/>
              </a:rPr>
              <a:t>函数：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R[n]=conv(h[n],E[n])'</a:t>
            </a:r>
            <a:r>
              <a:rPr lang="en-US" altLang="zh-CN" sz="1200" b="1" i="0" dirty="0">
                <a:effectLst/>
                <a:latin typeface="Menlo"/>
              </a:rPr>
              <a:t> );</a:t>
            </a:r>
          </a:p>
          <a:p>
            <a:r>
              <a:rPr lang="en-US" altLang="zh-CN" sz="1200" b="1" i="0" dirty="0" err="1">
                <a:effectLst/>
                <a:latin typeface="Menlo"/>
              </a:rPr>
              <a:t>xlabel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'n’</a:t>
            </a:r>
            <a:r>
              <a:rPr lang="en-US" altLang="zh-CN" sz="1200" b="1" i="0" dirty="0">
                <a:effectLst/>
                <a:latin typeface="Menlo"/>
              </a:rPr>
              <a:t>);  </a:t>
            </a:r>
            <a:r>
              <a:rPr lang="en-US" altLang="zh-CN" sz="1200" b="1" i="0" dirty="0" err="1">
                <a:effectLst/>
                <a:latin typeface="Menlo"/>
              </a:rPr>
              <a:t>ylabel</a:t>
            </a:r>
            <a:r>
              <a:rPr lang="en-US" altLang="zh-CN" sz="1200" b="1" i="0" dirty="0">
                <a:effectLst/>
                <a:latin typeface="Menlo"/>
              </a:rPr>
              <a:t>(</a:t>
            </a:r>
            <a:r>
              <a:rPr lang="en-US" altLang="zh-CN" sz="1200" b="1" i="0" dirty="0">
                <a:solidFill>
                  <a:srgbClr val="A709F5"/>
                </a:solidFill>
                <a:effectLst/>
                <a:latin typeface="Menlo"/>
              </a:rPr>
              <a:t>'R[n]'</a:t>
            </a:r>
            <a:r>
              <a:rPr lang="en-US" altLang="zh-CN" sz="1200" b="1" i="0" dirty="0">
                <a:effectLst/>
                <a:latin typeface="Menlo"/>
              </a:rPr>
              <a:t>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9EEF4EB-32F6-4183-8EB3-681C0E9D89AC}"/>
                  </a:ext>
                </a:extLst>
              </p:cNvPr>
              <p:cNvSpPr txBox="1"/>
              <p:nvPr/>
            </p:nvSpPr>
            <p:spPr>
              <a:xfrm>
                <a:off x="627888" y="968856"/>
                <a:ext cx="3474719" cy="338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zh-CN" altLang="en-US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zh-CN" altLang="en-US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9EEF4EB-32F6-4183-8EB3-681C0E9D8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88" y="968856"/>
                <a:ext cx="3474719" cy="338554"/>
              </a:xfrm>
              <a:prstGeom prst="rect">
                <a:avLst/>
              </a:prstGeom>
              <a:blipFill>
                <a:blip r:embed="rId2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5FA912FC-6F99-46B9-9F00-0D3C46B9F442}"/>
              </a:ext>
            </a:extLst>
          </p:cNvPr>
          <p:cNvSpPr txBox="1"/>
          <p:nvPr/>
        </p:nvSpPr>
        <p:spPr>
          <a:xfrm>
            <a:off x="195073" y="117720"/>
            <a:ext cx="4340351" cy="76944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离散</a:t>
            </a:r>
            <a:r>
              <a:rPr lang="zh-CN" altLang="zh-CN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时间系统求解相关函数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示例</a:t>
            </a:r>
            <a:endParaRPr lang="en-US" altLang="zh-CN" sz="20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dirty="0" err="1">
                <a:solidFill>
                  <a:srgbClr val="FFC000"/>
                </a:solidFill>
                <a:latin typeface="Times New Roman" panose="02020603050405020304" pitchFamily="18" charset="0"/>
              </a:rPr>
              <a:t>impz</a:t>
            </a:r>
            <a:r>
              <a:rPr lang="en-US" altLang="zh-CN" sz="2400" b="1">
                <a:solidFill>
                  <a:srgbClr val="FFC000"/>
                </a:solidFill>
                <a:latin typeface="Times New Roman" panose="02020603050405020304" pitchFamily="18" charset="0"/>
              </a:rPr>
              <a:t>   filter   conv  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90567E-B028-4823-BF7B-6524097E5D80}"/>
              </a:ext>
            </a:extLst>
          </p:cNvPr>
          <p:cNvSpPr txBox="1"/>
          <p:nvPr/>
        </p:nvSpPr>
        <p:spPr>
          <a:xfrm>
            <a:off x="9531960" y="1307410"/>
            <a:ext cx="15952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Lab2-2</a:t>
            </a:r>
            <a:endParaRPr lang="zh-CN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CF1F82-FC25-4901-BC85-70656C990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97" y="1501931"/>
            <a:ext cx="4175627" cy="520488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D13FDAA-087D-4630-99DB-2A56680F55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339" y="1918404"/>
            <a:ext cx="3440449" cy="478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70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555</Words>
  <Application>Microsoft Office PowerPoint</Application>
  <PresentationFormat>宽屏</PresentationFormat>
  <Paragraphs>86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Menlo</vt:lpstr>
      <vt:lpstr>等线</vt:lpstr>
      <vt:lpstr>等线 Light</vt:lpstr>
      <vt:lpstr>宋体</vt:lpstr>
      <vt:lpstr>Arial</vt:lpstr>
      <vt:lpstr>Calibri</vt:lpstr>
      <vt:lpstr>Cambria Math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geophy</dc:creator>
  <cp:lastModifiedBy>geophy2</cp:lastModifiedBy>
  <cp:revision>12</cp:revision>
  <dcterms:created xsi:type="dcterms:W3CDTF">2025-09-24T12:53:43Z</dcterms:created>
  <dcterms:modified xsi:type="dcterms:W3CDTF">2025-09-25T08:08:03Z</dcterms:modified>
</cp:coreProperties>
</file>