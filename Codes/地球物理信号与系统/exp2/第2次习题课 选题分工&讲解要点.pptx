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699" r:id="rId2"/>
    <p:sldMasterId id="2147483723" r:id="rId3"/>
  </p:sldMasterIdLst>
  <p:notesMasterIdLst>
    <p:notesMasterId r:id="rId10"/>
  </p:notesMasterIdLst>
  <p:sldIdLst>
    <p:sldId id="782" r:id="rId4"/>
    <p:sldId id="783" r:id="rId5"/>
    <p:sldId id="1258" r:id="rId6"/>
    <p:sldId id="1259" r:id="rId7"/>
    <p:sldId id="922" r:id="rId8"/>
    <p:sldId id="1264" r:id="rId9"/>
  </p:sldIdLst>
  <p:sldSz cx="12192000" cy="6858000"/>
  <p:notesSz cx="6797675" cy="99250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5474" autoAdjust="0"/>
  </p:normalViewPr>
  <p:slideViewPr>
    <p:cSldViewPr snapToGrid="0">
      <p:cViewPr varScale="1">
        <p:scale>
          <a:sx n="87" d="100"/>
          <a:sy n="87" d="100"/>
        </p:scale>
        <p:origin x="9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5EE69-C358-4DFB-8076-95307B2A258E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B668C-2AC9-42F5-88F2-7C4915ADD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33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2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23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066973-E662-4786-9F67-FBA95689281A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552473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2DB7561-8266-4E56-9648-51889783269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287205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6536B4-1ACC-40A5-920F-5C82C3C2820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757630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C972FE-0B13-4073-AE30-46C8B1A3D4F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49267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58FC735-F939-45B7-B9D6-DAA8BC594A75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39575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80E052-39FA-4334-BA3B-DEA029546ECF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1526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5974EB-472F-4108-86DC-7D27340A4150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774344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8715024-5CE3-49FB-B471-66D4D38F0103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181014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7FCA99-0D7F-4FFD-8BD9-D2EBDA6894E8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962000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7E4230-0BA4-4994-9569-F9857A65C979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152260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823A1B-3977-4EDE-B828-88991F895887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178117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91E694F-672E-4574-90F4-D430F4E5D1D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8280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52706-230A-4378-AFEE-0E99405A3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30B81C-D1AC-4518-8043-122CA6139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E1937F-9D43-4D61-A1CB-C0E8F21A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B2E726-A3B2-4147-B817-6C7F61B8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6D7B2-58CF-4DA8-8F7C-03564282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84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1FDBA-BA2C-4823-9066-99FE1891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364C2-8165-4EAD-A47F-C29949807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57928-72F2-4F6F-A17E-26D32FE6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C3D192-335D-40D3-AA8F-45EF8699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9DF04A-6AF0-4A01-921A-44B821F6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151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A785A-5994-4A23-9CB5-FCF82579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B9269-1B6A-4864-B32D-188464D70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921F1-2481-4AAF-8285-C8155919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E1B530-036B-4A23-BD20-780BCEB7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CB08CA-A237-46FF-87D5-74EE5755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948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7B3B8-1DF1-43A8-8EEA-2E071654D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1DC467-48DC-409F-B97E-4C2241810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D1B41E-C4B2-4A2A-8F72-EC803FC27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29F019-82AF-45F8-AE1F-1E749A2F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369D25-33A7-46C3-8842-C55EC5059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B8E965-F104-4425-87EC-21E29334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59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9C231-C09C-4BA2-BE74-6519DA0A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0C522-A558-4D98-AFE9-7314B9D3C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82E97F-6350-438C-BDDA-0FED7502A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B5B357-25C2-4A1F-B1F2-9489CF903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739AFF-70E8-402F-AE3B-8E8C7D745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0DE2E3-E53F-4F6C-BAA1-A08855D7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8826DD4-000E-44C5-87BF-8316F23B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F000EC-CF4B-488F-81C5-AC01FAD97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084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A3478-0DF0-4896-A106-5F1FEFD3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7B223E-9BA1-43AC-B73A-77C4D51E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A6A328-D905-431F-9216-8A8FE1BA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684623-CAD8-41CC-87EB-16981980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724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13E7F7-85CB-4E00-95F0-37ACB75D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C6D0CA-712F-43A2-AD7A-F077C1B9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EFFE5-5A5A-4A24-9135-7FEE90F6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3586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D192D-83B4-4609-8032-DAB74C00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91E339-7ECB-4450-891E-BF62FBB43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AC37B9-A4F8-4C6A-858F-7A638E4BF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15236D-7EC5-4487-8EFF-8B6D35A2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86276F-12F9-4BD6-9D65-A38598C6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4CC4C3-5AF6-4982-95BB-B4D8E11C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5356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4ECAA-1338-4240-939F-511ECDFC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CBE77D-C369-4C79-9523-160CDF229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E8FD7A-3BCF-4639-ABCF-2C87F2878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B9C745-D2EA-46B7-9928-CD6FD27F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E60FCA-E328-4124-9F85-2BE5A6A0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77201-E76E-40EC-8AFE-324FFCBC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9078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02D64-8805-4004-BA6F-A100271B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D80C8B-88A0-4213-9628-DDFC69F4D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21772E-3120-432E-8A2D-FBF3F1D20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C6C9AE-CE88-4CE4-9A0F-74297C6C7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E09EFD-FAC6-4A22-9DEA-5FBB7001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2362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A023AB-94BE-4ED6-BF1C-02B57BC14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637CC3-35C2-4013-AB43-63235EB8C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664778-E5B9-4206-99C4-AE4D7E58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FDC390-D530-4D5C-95CC-493D9FEE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28FBE5-6692-41D0-B4F8-B66964AFF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1683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4675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0265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432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8096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3526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9485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5662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3227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497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2491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64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1332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1333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13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1133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1133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082001-3040-4AB1-8A61-4367AD82FDF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68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73E181-78E7-4E58-BE26-DBE37DBC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F5ED3C-EEE2-4B06-8997-AAA485B29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33AF2-7245-4578-A9EE-B6A83CA40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40C47-83FD-428B-AAF9-4D028AA2CA83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7F84C5-DDAC-4CDF-815F-AD459B694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D57CE-EE26-479E-82AC-A694EFB33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03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A76DEF-898A-45B6-AB51-3402FF4C3BC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45B30-F0CC-49CF-8718-F657890C1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093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45A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238FDCD-4006-44F7-9835-6DC860D6FFBE}"/>
              </a:ext>
            </a:extLst>
          </p:cNvPr>
          <p:cNvSpPr/>
          <p:nvPr/>
        </p:nvSpPr>
        <p:spPr>
          <a:xfrm>
            <a:off x="2600810" y="122286"/>
            <a:ext cx="7937961" cy="92866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216000" bIns="216000">
            <a:spAutoFit/>
          </a:bodyPr>
          <a:lstStyle/>
          <a:p>
            <a:pPr lvl="0" algn="ctr"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习题</a:t>
            </a:r>
            <a:r>
              <a:rPr lang="zh-CN" altLang="en-US" sz="32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课 </a:t>
            </a:r>
            <a:r>
              <a:rPr lang="en-US" altLang="zh-CN" sz="32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kern="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线性时不变系统</a:t>
            </a:r>
            <a:r>
              <a:rPr lang="zh-CN" altLang="en-US" sz="32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3200" b="1" kern="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时域</a:t>
            </a:r>
            <a:r>
              <a:rPr lang="zh-CN" altLang="en-US" sz="32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3FDA43B2-45C6-437D-BAF0-D32E7BB9E11D}"/>
              </a:ext>
            </a:extLst>
          </p:cNvPr>
          <p:cNvSpPr txBox="1">
            <a:spLocks/>
          </p:cNvSpPr>
          <p:nvPr/>
        </p:nvSpPr>
        <p:spPr bwMode="auto">
          <a:xfrm>
            <a:off x="2557291" y="5101308"/>
            <a:ext cx="2442452" cy="693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卷积算法讲解：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（课堂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&amp;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知识点）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76E6A4-C338-459B-9B87-E4F5EAF51803}"/>
              </a:ext>
            </a:extLst>
          </p:cNvPr>
          <p:cNvSpPr/>
          <p:nvPr/>
        </p:nvSpPr>
        <p:spPr>
          <a:xfrm>
            <a:off x="5232302" y="4718221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1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激励信号的分解：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单位脉冲和单位冲激函数 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F1FE14-3531-4875-B531-C1F2789DECD7}"/>
              </a:ext>
            </a:extLst>
          </p:cNvPr>
          <p:cNvSpPr/>
          <p:nvPr/>
        </p:nvSpPr>
        <p:spPr>
          <a:xfrm>
            <a:off x="5232302" y="5232264"/>
            <a:ext cx="5176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2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基本信号响应：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单位脉冲响应和单位冲激响应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8564B2-39E3-4927-85A3-DD36776DDAA5}"/>
              </a:ext>
            </a:extLst>
          </p:cNvPr>
          <p:cNvSpPr/>
          <p:nvPr/>
        </p:nvSpPr>
        <p:spPr>
          <a:xfrm>
            <a:off x="5232302" y="5746307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3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系统响应的合成：</a:t>
            </a:r>
            <a:r>
              <a:rPr lang="zh-CN" altLang="en-US" sz="1400" b="1" kern="0" dirty="0">
                <a:solidFill>
                  <a:schemeClr val="accent1">
                    <a:lumMod val="75000"/>
                  </a:schemeClr>
                </a:solidFill>
                <a:latin typeface="等线" panose="02010600030101010101" pitchFamily="2" charset="-122"/>
                <a:cs typeface="Times New Roman" pitchFamily="18" charset="0"/>
              </a:rPr>
              <a:t>卷积和 </a:t>
            </a:r>
            <a:r>
              <a:rPr lang="en-US" altLang="zh-CN" sz="1400" b="1" kern="0" dirty="0">
                <a:solidFill>
                  <a:schemeClr val="accent1">
                    <a:lumMod val="75000"/>
                  </a:schemeClr>
                </a:solidFill>
                <a:latin typeface="等线" panose="02010600030101010101" pitchFamily="2" charset="-122"/>
                <a:cs typeface="Times New Roman" pitchFamily="18" charset="0"/>
              </a:rPr>
              <a:t>&amp; </a:t>
            </a:r>
            <a:r>
              <a:rPr lang="zh-CN" altLang="en-US" sz="1400" b="1" kern="0" dirty="0">
                <a:solidFill>
                  <a:schemeClr val="accent1">
                    <a:lumMod val="75000"/>
                  </a:schemeClr>
                </a:solidFill>
                <a:latin typeface="等线" panose="02010600030101010101" pitchFamily="2" charset="-122"/>
                <a:cs typeface="Times New Roman" pitchFamily="18" charset="0"/>
              </a:rPr>
              <a:t>卷积积分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9204DA22-B968-4AA0-8093-BD5A6A5FD211}"/>
              </a:ext>
            </a:extLst>
          </p:cNvPr>
          <p:cNvSpPr txBox="1">
            <a:spLocks/>
          </p:cNvSpPr>
          <p:nvPr/>
        </p:nvSpPr>
        <p:spPr bwMode="auto">
          <a:xfrm>
            <a:off x="2668636" y="1325878"/>
            <a:ext cx="2473421" cy="785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连续时间系统的求解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47B249-7407-48A0-97A0-E573C5547D17}"/>
              </a:ext>
            </a:extLst>
          </p:cNvPr>
          <p:cNvSpPr/>
          <p:nvPr/>
        </p:nvSpPr>
        <p:spPr>
          <a:xfrm>
            <a:off x="5232302" y="1325878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1   </a:t>
            </a:r>
            <a:r>
              <a:rPr lang="zh-CN" altLang="en-US" b="1" kern="0" dirty="0">
                <a:solidFill>
                  <a:prstClr val="black"/>
                </a:solidFill>
                <a:latin typeface="等线" panose="02010600030101010101" pitchFamily="2" charset="-122"/>
                <a:cs typeface="Times New Roman" pitchFamily="18" charset="0"/>
              </a:rPr>
              <a:t>系统微分方程的建立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3222C1-A35C-4CBD-AE78-33E2C710F9F6}"/>
              </a:ext>
            </a:extLst>
          </p:cNvPr>
          <p:cNvSpPr/>
          <p:nvPr/>
        </p:nvSpPr>
        <p:spPr>
          <a:xfrm>
            <a:off x="5232302" y="1791020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2 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系统微分方程的求解（解的分解）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78390" y="1157652"/>
            <a:ext cx="8156904" cy="162445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1" name="矩形 20"/>
          <p:cNvSpPr/>
          <p:nvPr/>
        </p:nvSpPr>
        <p:spPr>
          <a:xfrm>
            <a:off x="2599489" y="4651344"/>
            <a:ext cx="8135805" cy="208437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BA7C7E3-DA17-4389-B30E-04F8E554A8EF}"/>
              </a:ext>
            </a:extLst>
          </p:cNvPr>
          <p:cNvSpPr/>
          <p:nvPr/>
        </p:nvSpPr>
        <p:spPr>
          <a:xfrm>
            <a:off x="5232302" y="6235599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4 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实验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2-3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讲解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5BDBA40-CAD6-49F5-9EA8-51B2D9436535}"/>
              </a:ext>
            </a:extLst>
          </p:cNvPr>
          <p:cNvSpPr/>
          <p:nvPr/>
        </p:nvSpPr>
        <p:spPr>
          <a:xfrm>
            <a:off x="2557291" y="2885851"/>
            <a:ext cx="8178003" cy="172633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42E588F-2F5C-42E6-A891-CFBF3A049815}"/>
              </a:ext>
            </a:extLst>
          </p:cNvPr>
          <p:cNvSpPr/>
          <p:nvPr/>
        </p:nvSpPr>
        <p:spPr>
          <a:xfrm>
            <a:off x="5232302" y="2251621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3 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实验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2-1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讲解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标题 1">
            <a:extLst>
              <a:ext uri="{FF2B5EF4-FFF2-40B4-BE49-F238E27FC236}">
                <a16:creationId xmlns:a16="http://schemas.microsoft.com/office/drawing/2014/main" id="{64D666B6-D975-4557-8258-D1EDC4C5E340}"/>
              </a:ext>
            </a:extLst>
          </p:cNvPr>
          <p:cNvSpPr txBox="1">
            <a:spLocks/>
          </p:cNvSpPr>
          <p:nvPr/>
        </p:nvSpPr>
        <p:spPr bwMode="auto">
          <a:xfrm>
            <a:off x="2699572" y="2940441"/>
            <a:ext cx="2473421" cy="785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离散时间系统的求解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8532424-10E2-4807-835D-8D0AF0DEA0A8}"/>
              </a:ext>
            </a:extLst>
          </p:cNvPr>
          <p:cNvSpPr/>
          <p:nvPr/>
        </p:nvSpPr>
        <p:spPr>
          <a:xfrm>
            <a:off x="5232302" y="3090566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1   </a:t>
            </a:r>
            <a:r>
              <a:rPr lang="zh-CN" altLang="en-US" b="1" kern="0" dirty="0">
                <a:solidFill>
                  <a:prstClr val="black"/>
                </a:solidFill>
                <a:latin typeface="等线" panose="02010600030101010101" pitchFamily="2" charset="-122"/>
                <a:cs typeface="Times New Roman" pitchFamily="18" charset="0"/>
              </a:rPr>
              <a:t>系统差分方程的建立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BDAB0DC-8BDE-4593-B0B6-EE2E0F5944E9}"/>
              </a:ext>
            </a:extLst>
          </p:cNvPr>
          <p:cNvSpPr/>
          <p:nvPr/>
        </p:nvSpPr>
        <p:spPr>
          <a:xfrm>
            <a:off x="5232302" y="3508028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2 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系统差分方程的求解（解的分解）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36DE7E4-17FB-42A3-A19E-C27322F3DF36}"/>
              </a:ext>
            </a:extLst>
          </p:cNvPr>
          <p:cNvSpPr/>
          <p:nvPr/>
        </p:nvSpPr>
        <p:spPr>
          <a:xfrm>
            <a:off x="5232302" y="4002731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3 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实验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2-2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讲解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2B38366-9CD2-44A1-9097-7B60564E4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192772"/>
              </p:ext>
            </p:extLst>
          </p:nvPr>
        </p:nvGraphicFramePr>
        <p:xfrm>
          <a:off x="10909226" y="1157652"/>
          <a:ext cx="673100" cy="163068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629339669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张馨月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975127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高语澄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757980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龙沐阳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30758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茅单文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34148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674A1F9-16EB-4806-968F-0ABB59AAD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82212"/>
              </p:ext>
            </p:extLst>
          </p:nvPr>
        </p:nvGraphicFramePr>
        <p:xfrm>
          <a:off x="10877513" y="2911090"/>
          <a:ext cx="673100" cy="163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1482848418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</a:rPr>
                        <a:t>王路遥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751104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周智敏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946704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徐    畅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05101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金一心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7408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527BAB1-D3C0-41FF-A783-170DB12CF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380030"/>
              </p:ext>
            </p:extLst>
          </p:nvPr>
        </p:nvGraphicFramePr>
        <p:xfrm>
          <a:off x="10881886" y="4681173"/>
          <a:ext cx="673100" cy="2038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1131351086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</a:rPr>
                        <a:t>戴子宇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388214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杨佳润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47839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杨睿懿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0247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朱海兵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81515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白彬杨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161046"/>
                  </a:ext>
                </a:extLst>
              </a:tr>
            </a:tbl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060ED1C6-854F-43E4-A340-84EE6EC14FDD}"/>
              </a:ext>
            </a:extLst>
          </p:cNvPr>
          <p:cNvSpPr txBox="1"/>
          <p:nvPr/>
        </p:nvSpPr>
        <p:spPr>
          <a:xfrm>
            <a:off x="11533290" y="4916642"/>
            <a:ext cx="658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连续</a:t>
            </a:r>
            <a:endParaRPr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E7AF471-5DE7-4A7A-8B70-BBB047505F1C}"/>
              </a:ext>
            </a:extLst>
          </p:cNvPr>
          <p:cNvSpPr txBox="1"/>
          <p:nvPr/>
        </p:nvSpPr>
        <p:spPr>
          <a:xfrm>
            <a:off x="11533290" y="5961750"/>
            <a:ext cx="658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离散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10945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AA040A5B-A5B3-4FEB-9AA0-6A4C28CE8F64}"/>
              </a:ext>
            </a:extLst>
          </p:cNvPr>
          <p:cNvSpPr/>
          <p:nvPr/>
        </p:nvSpPr>
        <p:spPr bwMode="auto">
          <a:xfrm>
            <a:off x="226595" y="1510544"/>
            <a:ext cx="5352760" cy="451956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9228" y="233478"/>
            <a:ext cx="4393163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各部分选题的基本知识点</a:t>
            </a:r>
          </a:p>
        </p:txBody>
      </p:sp>
      <p:sp>
        <p:nvSpPr>
          <p:cNvPr id="9" name="矩形 8"/>
          <p:cNvSpPr/>
          <p:nvPr/>
        </p:nvSpPr>
        <p:spPr>
          <a:xfrm>
            <a:off x="322646" y="1908777"/>
            <a:ext cx="4398767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激励信号的分解  ：单位脉冲和单位冲激函数 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678724" y="2115500"/>
            <a:ext cx="4142243" cy="949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举例讲解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信号的分解过程 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图示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说明所用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基本函数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的特性（采样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时移特性 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说明进行上述信号分解的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目的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标题 1"/>
          <p:cNvSpPr txBox="1">
            <a:spLocks/>
          </p:cNvSpPr>
          <p:nvPr/>
        </p:nvSpPr>
        <p:spPr bwMode="auto">
          <a:xfrm>
            <a:off x="683088" y="3542933"/>
            <a:ext cx="4137880" cy="9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分别简述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等效初始条件法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冲激平衡法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的求解思想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举例说明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基本求解步骤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说明求解系统基本信号单位信号响应的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目的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2158" y="4634474"/>
            <a:ext cx="4349256" cy="30777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系统响应的合成：卷积和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卷积积分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标题 1"/>
          <p:cNvSpPr txBox="1">
            <a:spLocks/>
          </p:cNvSpPr>
          <p:nvPr/>
        </p:nvSpPr>
        <p:spPr bwMode="auto">
          <a:xfrm>
            <a:off x="692379" y="4854220"/>
            <a:ext cx="4306863" cy="101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简述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卷积求和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卷积积分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求解系统的信号分析思想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举例图解说明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卷积求和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卷积积分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的基本流程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图示说明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卷积求和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卷积积分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上下限对应的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物理意义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77B5D09E-A6F0-42B9-AE24-B321FA7A43BB}"/>
              </a:ext>
            </a:extLst>
          </p:cNvPr>
          <p:cNvSpPr txBox="1">
            <a:spLocks/>
          </p:cNvSpPr>
          <p:nvPr/>
        </p:nvSpPr>
        <p:spPr bwMode="auto">
          <a:xfrm>
            <a:off x="358137" y="3226659"/>
            <a:ext cx="4570092" cy="346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基本系统响应的求解：单位脉冲响应和单位冲激响应</a:t>
            </a:r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B478DEB9-9FB2-4510-8B13-6ADFA84F4EC3}"/>
              </a:ext>
            </a:extLst>
          </p:cNvPr>
          <p:cNvSpPr txBox="1">
            <a:spLocks/>
          </p:cNvSpPr>
          <p:nvPr/>
        </p:nvSpPr>
        <p:spPr bwMode="auto">
          <a:xfrm>
            <a:off x="889728" y="1089605"/>
            <a:ext cx="3539500" cy="352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卷积算法的讲解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0EF7BB-3C72-4D20-9FF2-90D473BF8140}"/>
              </a:ext>
            </a:extLst>
          </p:cNvPr>
          <p:cNvSpPr/>
          <p:nvPr/>
        </p:nvSpPr>
        <p:spPr bwMode="auto">
          <a:xfrm>
            <a:off x="6075056" y="541853"/>
            <a:ext cx="5726800" cy="303874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D01562A1-E1E1-44D9-8D15-9C03BE731C64}"/>
              </a:ext>
            </a:extLst>
          </p:cNvPr>
          <p:cNvSpPr txBox="1">
            <a:spLocks/>
          </p:cNvSpPr>
          <p:nvPr/>
        </p:nvSpPr>
        <p:spPr bwMode="auto">
          <a:xfrm>
            <a:off x="6420634" y="602191"/>
            <a:ext cx="2165874" cy="42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系统方程的建立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0358B58D-A72B-49A6-A7BA-F158553D1DAC}"/>
              </a:ext>
            </a:extLst>
          </p:cNvPr>
          <p:cNvSpPr txBox="1">
            <a:spLocks/>
          </p:cNvSpPr>
          <p:nvPr/>
        </p:nvSpPr>
        <p:spPr bwMode="auto">
          <a:xfrm>
            <a:off x="6747030" y="979702"/>
            <a:ext cx="2209412" cy="9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画出系统结构示意图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分析系统元件特性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列系统方程</a:t>
            </a:r>
          </a:p>
        </p:txBody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132C39F1-3D79-433B-A5ED-39C28483A3DB}"/>
              </a:ext>
            </a:extLst>
          </p:cNvPr>
          <p:cNvSpPr txBox="1">
            <a:spLocks/>
          </p:cNvSpPr>
          <p:nvPr/>
        </p:nvSpPr>
        <p:spPr bwMode="auto">
          <a:xfrm>
            <a:off x="6747030" y="2271571"/>
            <a:ext cx="3583567" cy="117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讲解经典法求解系统方程的基本步骤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求系统的自由响应和强迫响应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求系统的零输入响应和零状态响应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分析两种分解方式中的不同响应之间的关系</a:t>
            </a:r>
          </a:p>
        </p:txBody>
      </p:sp>
      <p:sp>
        <p:nvSpPr>
          <p:cNvPr id="39" name="标题 1">
            <a:extLst>
              <a:ext uri="{FF2B5EF4-FFF2-40B4-BE49-F238E27FC236}">
                <a16:creationId xmlns:a16="http://schemas.microsoft.com/office/drawing/2014/main" id="{C7EFDD60-7943-4EAA-9E1C-A76C27875735}"/>
              </a:ext>
            </a:extLst>
          </p:cNvPr>
          <p:cNvSpPr txBox="1">
            <a:spLocks/>
          </p:cNvSpPr>
          <p:nvPr/>
        </p:nvSpPr>
        <p:spPr bwMode="auto">
          <a:xfrm>
            <a:off x="6257792" y="1941471"/>
            <a:ext cx="3423117" cy="390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系统方程的求解过程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解的分解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7C9CBE5-2DCE-4FD6-9FCB-74191897F704}"/>
              </a:ext>
            </a:extLst>
          </p:cNvPr>
          <p:cNvSpPr/>
          <p:nvPr/>
        </p:nvSpPr>
        <p:spPr>
          <a:xfrm>
            <a:off x="9628416" y="1176340"/>
            <a:ext cx="16738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以习题为例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EX 2-3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7A83EE2-E9D9-4369-AE20-22FAB56FC66B}"/>
              </a:ext>
            </a:extLst>
          </p:cNvPr>
          <p:cNvSpPr/>
          <p:nvPr/>
        </p:nvSpPr>
        <p:spPr>
          <a:xfrm>
            <a:off x="9952342" y="2641494"/>
            <a:ext cx="14911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以课后练习为例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C5C3AF6-5AC8-4F11-8823-D97C88FD5A0F}"/>
              </a:ext>
            </a:extLst>
          </p:cNvPr>
          <p:cNvSpPr/>
          <p:nvPr/>
        </p:nvSpPr>
        <p:spPr bwMode="auto">
          <a:xfrm>
            <a:off x="6096000" y="4101859"/>
            <a:ext cx="5705856" cy="249688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A26A70F7-C991-4BDC-A463-91408C637859}"/>
              </a:ext>
            </a:extLst>
          </p:cNvPr>
          <p:cNvSpPr txBox="1">
            <a:spLocks/>
          </p:cNvSpPr>
          <p:nvPr/>
        </p:nvSpPr>
        <p:spPr bwMode="auto">
          <a:xfrm>
            <a:off x="6441578" y="4162197"/>
            <a:ext cx="2104462" cy="42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系统方程的建立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03B03632-1C70-457D-9987-1FC1D756D38A}"/>
              </a:ext>
            </a:extLst>
          </p:cNvPr>
          <p:cNvSpPr txBox="1">
            <a:spLocks/>
          </p:cNvSpPr>
          <p:nvPr/>
        </p:nvSpPr>
        <p:spPr bwMode="auto">
          <a:xfrm>
            <a:off x="6767974" y="4539708"/>
            <a:ext cx="2146766" cy="9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画出系统结构示意图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说明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LTI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系统基本单元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列系统方程</a:t>
            </a:r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3FB9DEE6-5D3D-43D7-A396-75A1F5E106C5}"/>
              </a:ext>
            </a:extLst>
          </p:cNvPr>
          <p:cNvSpPr txBox="1">
            <a:spLocks/>
          </p:cNvSpPr>
          <p:nvPr/>
        </p:nvSpPr>
        <p:spPr bwMode="auto">
          <a:xfrm>
            <a:off x="6792423" y="5867568"/>
            <a:ext cx="3326057" cy="676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n-US" altLang="zh-CN" sz="1200" kern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讲解经典法求解系统方程的基本步骤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说明系统的自由响应和强迫响应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标题 1">
            <a:extLst>
              <a:ext uri="{FF2B5EF4-FFF2-40B4-BE49-F238E27FC236}">
                <a16:creationId xmlns:a16="http://schemas.microsoft.com/office/drawing/2014/main" id="{D1B37A41-B0DC-4A95-A658-CF92A5ADB0B0}"/>
              </a:ext>
            </a:extLst>
          </p:cNvPr>
          <p:cNvSpPr txBox="1">
            <a:spLocks/>
          </p:cNvSpPr>
          <p:nvPr/>
        </p:nvSpPr>
        <p:spPr bwMode="auto">
          <a:xfrm>
            <a:off x="6278736" y="5501477"/>
            <a:ext cx="3326057" cy="390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系统方程的求解过程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解的分解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23F2A6C-C8A0-431D-9BC9-A396A41A9EDD}"/>
              </a:ext>
            </a:extLst>
          </p:cNvPr>
          <p:cNvSpPr/>
          <p:nvPr/>
        </p:nvSpPr>
        <p:spPr>
          <a:xfrm>
            <a:off x="9772558" y="4837171"/>
            <a:ext cx="17712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以习题为例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EX 7-8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3E9D7F8-776D-4304-AABB-6CCC86252094}"/>
              </a:ext>
            </a:extLst>
          </p:cNvPr>
          <p:cNvSpPr/>
          <p:nvPr/>
        </p:nvSpPr>
        <p:spPr>
          <a:xfrm>
            <a:off x="9777674" y="5952087"/>
            <a:ext cx="17712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以习题为例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EX 7-12 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919B5132-E155-496C-B83F-06D0AF94B225}"/>
              </a:ext>
            </a:extLst>
          </p:cNvPr>
          <p:cNvSpPr txBox="1">
            <a:spLocks/>
          </p:cNvSpPr>
          <p:nvPr/>
        </p:nvSpPr>
        <p:spPr bwMode="auto">
          <a:xfrm>
            <a:off x="7739161" y="115464"/>
            <a:ext cx="2591436" cy="33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连续时间系统的求解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7B67D16F-2A5F-4128-A2A7-8D560BF38CFE}"/>
              </a:ext>
            </a:extLst>
          </p:cNvPr>
          <p:cNvSpPr txBox="1">
            <a:spLocks/>
          </p:cNvSpPr>
          <p:nvPr/>
        </p:nvSpPr>
        <p:spPr bwMode="auto">
          <a:xfrm>
            <a:off x="7757280" y="3770216"/>
            <a:ext cx="2591436" cy="33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离散时间系统的求解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88339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C7DEAEC-16D7-4BEF-92F2-20DA598D400D}"/>
              </a:ext>
            </a:extLst>
          </p:cNvPr>
          <p:cNvSpPr/>
          <p:nvPr/>
        </p:nvSpPr>
        <p:spPr bwMode="auto">
          <a:xfrm>
            <a:off x="255190" y="1183322"/>
            <a:ext cx="3572219" cy="1833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A016240-07A1-4F14-9D60-D8A52564EB73}"/>
              </a:ext>
            </a:extLst>
          </p:cNvPr>
          <p:cNvSpPr txBox="1">
            <a:spLocks/>
          </p:cNvSpPr>
          <p:nvPr/>
        </p:nvSpPr>
        <p:spPr bwMode="auto">
          <a:xfrm>
            <a:off x="2419216" y="203082"/>
            <a:ext cx="7592753" cy="68183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108000" rIns="91440" bIns="7200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1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线性时不变系统的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激励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-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响应机制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C4886C-D67E-437A-AEF1-0F7D6E32CB0B}"/>
              </a:ext>
            </a:extLst>
          </p:cNvPr>
          <p:cNvSpPr/>
          <p:nvPr/>
        </p:nvSpPr>
        <p:spPr>
          <a:xfrm>
            <a:off x="408645" y="2419608"/>
            <a:ext cx="32770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离散时间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LTI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系统分析求解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461FCE-69FE-492C-9DA7-4078276551CB}"/>
              </a:ext>
            </a:extLst>
          </p:cNvPr>
          <p:cNvSpPr/>
          <p:nvPr/>
        </p:nvSpPr>
        <p:spPr>
          <a:xfrm>
            <a:off x="408645" y="2002146"/>
            <a:ext cx="3410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连续时间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LTI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系统分析求解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BEB73B-7C44-48C8-981F-D2D6131E46E8}"/>
              </a:ext>
            </a:extLst>
          </p:cNvPr>
          <p:cNvSpPr/>
          <p:nvPr/>
        </p:nvSpPr>
        <p:spPr>
          <a:xfrm>
            <a:off x="307230" y="1377241"/>
            <a:ext cx="33232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LTI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系统的表达和求解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宋体"/>
              <a:cs typeface="+mn-cs"/>
            </a:endParaRPr>
          </a:p>
        </p:txBody>
      </p:sp>
      <p:sp>
        <p:nvSpPr>
          <p:cNvPr id="51" name="Text Box 9">
            <a:extLst>
              <a:ext uri="{FF2B5EF4-FFF2-40B4-BE49-F238E27FC236}">
                <a16:creationId xmlns:a16="http://schemas.microsoft.com/office/drawing/2014/main" id="{F35A9945-65E3-495E-BBE3-F4B7B524D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816" y="1588733"/>
            <a:ext cx="156721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  <a:prstDash val="dash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激励信号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e(t)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Text Box 10">
            <a:extLst>
              <a:ext uri="{FF2B5EF4-FFF2-40B4-BE49-F238E27FC236}">
                <a16:creationId xmlns:a16="http://schemas.microsoft.com/office/drawing/2014/main" id="{F05305BF-1400-4059-9BB3-4F91A7AEF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1969" y="1588733"/>
            <a:ext cx="161924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  <a:prstDash val="dash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响应信号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r(t)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Rectangle 6">
            <a:extLst>
              <a:ext uri="{FF2B5EF4-FFF2-40B4-BE49-F238E27FC236}">
                <a16:creationId xmlns:a16="http://schemas.microsoft.com/office/drawing/2014/main" id="{CCA2707D-D426-47C3-8559-433242E00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58" y="1547020"/>
            <a:ext cx="2260987" cy="7913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系统特性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（微分方程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/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差分方程）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</p:txBody>
      </p:sp>
      <p:sp>
        <p:nvSpPr>
          <p:cNvPr id="57" name="箭头: 右 56">
            <a:extLst>
              <a:ext uri="{FF2B5EF4-FFF2-40B4-BE49-F238E27FC236}">
                <a16:creationId xmlns:a16="http://schemas.microsoft.com/office/drawing/2014/main" id="{6E1C8276-3302-4BE0-8474-EB70AB7862F1}"/>
              </a:ext>
            </a:extLst>
          </p:cNvPr>
          <p:cNvSpPr/>
          <p:nvPr/>
        </p:nvSpPr>
        <p:spPr bwMode="auto">
          <a:xfrm>
            <a:off x="6360198" y="1785278"/>
            <a:ext cx="656492" cy="314797"/>
          </a:xfrm>
          <a:prstGeom prst="rightArrow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09C4CBE5-7F81-48C9-83A7-BEC7B9818046}"/>
              </a:ext>
            </a:extLst>
          </p:cNvPr>
          <p:cNvSpPr/>
          <p:nvPr/>
        </p:nvSpPr>
        <p:spPr bwMode="auto">
          <a:xfrm>
            <a:off x="9316013" y="1785278"/>
            <a:ext cx="656492" cy="314797"/>
          </a:xfrm>
          <a:prstGeom prst="rightArrow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34032" y="2788940"/>
            <a:ext cx="7502778" cy="3585051"/>
            <a:chOff x="2134448" y="3115828"/>
            <a:chExt cx="7502778" cy="3585051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68F30D6A-2968-4019-BDA8-7CBE8FFBADEF}"/>
                </a:ext>
              </a:extLst>
            </p:cNvPr>
            <p:cNvSpPr/>
            <p:nvPr/>
          </p:nvSpPr>
          <p:spPr bwMode="auto">
            <a:xfrm>
              <a:off x="2134448" y="3210017"/>
              <a:ext cx="7502778" cy="349086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7" name="标题 1">
              <a:extLst>
                <a:ext uri="{FF2B5EF4-FFF2-40B4-BE49-F238E27FC236}">
                  <a16:creationId xmlns:a16="http://schemas.microsoft.com/office/drawing/2014/main" id="{BD6C2E46-0EC2-4BF7-A870-A70C7D88CD0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995262" y="3115828"/>
              <a:ext cx="4353237" cy="623203"/>
            </a:xfrm>
            <a:prstGeom prst="rect">
              <a:avLst/>
            </a:prstGeom>
            <a:solidFill>
              <a:srgbClr val="00206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b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rPr>
                <a:t>响应（信号）的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rPr>
                <a:t>分解与合成</a:t>
              </a: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6A0FB97-ADE1-4973-BD12-8B2FF8170B3E}"/>
                </a:ext>
              </a:extLst>
            </p:cNvPr>
            <p:cNvGrpSpPr/>
            <p:nvPr/>
          </p:nvGrpSpPr>
          <p:grpSpPr>
            <a:xfrm>
              <a:off x="2438323" y="3854372"/>
              <a:ext cx="6904044" cy="830936"/>
              <a:chOff x="1642419" y="4286951"/>
              <a:chExt cx="6904044" cy="830936"/>
            </a:xfrm>
          </p:grpSpPr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E6D2DF36-F3EA-471D-9241-347D2735A3AE}"/>
                  </a:ext>
                </a:extLst>
              </p:cNvPr>
              <p:cNvSpPr/>
              <p:nvPr/>
            </p:nvSpPr>
            <p:spPr>
              <a:xfrm>
                <a:off x="1642421" y="4286951"/>
                <a:ext cx="6904042" cy="4247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系统完全响应</a:t>
                </a: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CC33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kumimoji="0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rgbClr val="0033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= </a:t>
                </a: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自由响应 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系统特征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kumimoji="0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rgbClr val="0033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+  </a:t>
                </a: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强迫响应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激励特征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kumimoji="0" lang="zh-CN" altLang="en-US" i="1" u="none" strike="noStrike" kern="0" cap="none" spc="0" normalizeH="0" baseline="0" noProof="0" dirty="0">
                  <a:ln>
                    <a:noFill/>
                  </a:ln>
                  <a:solidFill>
                    <a:srgbClr val="CC66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AD35BB4E-97E4-4BC1-9F14-B9E8EF4BEE07}"/>
                  </a:ext>
                </a:extLst>
              </p:cNvPr>
              <p:cNvSpPr/>
              <p:nvPr/>
            </p:nvSpPr>
            <p:spPr>
              <a:xfrm>
                <a:off x="1642419" y="4779333"/>
                <a:ext cx="45781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依据：激励特征与系统特征  </a:t>
                </a:r>
                <a:r>
                  <a: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（输出端分解）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Verdana"/>
                  <a:ea typeface="宋体"/>
                </a:endParaRP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39ABA82D-9DBD-43DE-84FC-DE21284202F6}"/>
                </a:ext>
              </a:extLst>
            </p:cNvPr>
            <p:cNvGrpSpPr/>
            <p:nvPr/>
          </p:nvGrpSpPr>
          <p:grpSpPr>
            <a:xfrm>
              <a:off x="2455172" y="4835058"/>
              <a:ext cx="6931261" cy="810157"/>
              <a:chOff x="1650114" y="5284662"/>
              <a:chExt cx="6752020" cy="810157"/>
            </a:xfrm>
          </p:grpSpPr>
          <p:sp>
            <p:nvSpPr>
              <p:cNvPr id="63" name="Text Box 80">
                <a:extLst>
                  <a:ext uri="{FF2B5EF4-FFF2-40B4-BE49-F238E27FC236}">
                    <a16:creationId xmlns:a16="http://schemas.microsoft.com/office/drawing/2014/main" id="{01559D97-A90E-4F0B-9DE1-BF5E196CC2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0114" y="5284662"/>
                <a:ext cx="6752020" cy="4247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系统完全响应</a:t>
                </a: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CC33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rgbClr val="0033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= 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零输入响应 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系统特征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B90000">
                        <a:lumMod val="75000"/>
                      </a:srgbClr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kumimoji="0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rgbClr val="0033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+ 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零状态响应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激励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系统特征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kumimoji="0" lang="zh-CN" altLang="en-US" i="1" u="none" strike="noStrike" kern="0" cap="none" spc="0" normalizeH="0" baseline="0" noProof="0" dirty="0">
                  <a:ln>
                    <a:noFill/>
                  </a:ln>
                  <a:solidFill>
                    <a:srgbClr val="B90000">
                      <a:lumMod val="75000"/>
                    </a:srgbClr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E96CA057-C0D4-4795-846F-67D4F128D393}"/>
                  </a:ext>
                </a:extLst>
              </p:cNvPr>
              <p:cNvSpPr/>
              <p:nvPr/>
            </p:nvSpPr>
            <p:spPr>
              <a:xfrm>
                <a:off x="1650115" y="5756265"/>
                <a:ext cx="425233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依据：激励状态与系统初始状态  </a:t>
                </a:r>
                <a:r>
                  <a: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（输入端分解）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Verdana"/>
                  <a:ea typeface="宋体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A93F7DBC-9231-4244-B3F5-490CE459A2E1}"/>
                </a:ext>
              </a:extLst>
            </p:cNvPr>
            <p:cNvGrpSpPr/>
            <p:nvPr/>
          </p:nvGrpSpPr>
          <p:grpSpPr>
            <a:xfrm>
              <a:off x="2455173" y="5767968"/>
              <a:ext cx="6887194" cy="810157"/>
              <a:chOff x="1642420" y="5284662"/>
              <a:chExt cx="6887194" cy="810157"/>
            </a:xfrm>
          </p:grpSpPr>
          <p:sp>
            <p:nvSpPr>
              <p:cNvPr id="28" name="Text Box 80">
                <a:extLst>
                  <a:ext uri="{FF2B5EF4-FFF2-40B4-BE49-F238E27FC236}">
                    <a16:creationId xmlns:a16="http://schemas.microsoft.com/office/drawing/2014/main" id="{E714911C-D015-4D56-971E-F9A1088447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2420" y="5284662"/>
                <a:ext cx="6887194" cy="4247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系统完全响应</a:t>
                </a: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CC33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rgbClr val="0033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=  </a:t>
                </a: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暂态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响应 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系统特征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srgbClr val="B90000">
                        <a:lumMod val="75000"/>
                      </a:srgbClr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kumimoji="0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rgbClr val="0033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+ 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稳态响应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激励特征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kumimoji="0" lang="zh-CN" altLang="en-US" i="1" u="none" strike="noStrike" kern="0" cap="none" spc="0" normalizeH="0" baseline="0" noProof="0" dirty="0">
                  <a:ln>
                    <a:noFill/>
                  </a:ln>
                  <a:solidFill>
                    <a:srgbClr val="B90000">
                      <a:lumMod val="75000"/>
                    </a:srgbClr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5D16750F-B636-4310-A5B2-EF88439DBBBC}"/>
                  </a:ext>
                </a:extLst>
              </p:cNvPr>
              <p:cNvSpPr/>
              <p:nvPr/>
            </p:nvSpPr>
            <p:spPr>
              <a:xfrm>
                <a:off x="1642420" y="5756265"/>
                <a:ext cx="425233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依据：时间特征 </a:t>
                </a:r>
                <a:r>
                  <a: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（响应过程分解）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Verdana"/>
                  <a:ea typeface="宋体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1DAA8D3E-E94A-49DD-AE4E-A1E26DC7FE36}"/>
                  </a:ext>
                </a:extLst>
              </p:cNvPr>
              <p:cNvSpPr txBox="1"/>
              <p:nvPr/>
            </p:nvSpPr>
            <p:spPr bwMode="auto">
              <a:xfrm>
                <a:off x="307230" y="3400762"/>
                <a:ext cx="3565909" cy="9286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 </m:t>
                      </m:r>
                      <m:nary>
                        <m:naryPr>
                          <m:chr m:val="∑"/>
                          <m:ctrlP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= </m:t>
                      </m:r>
                      <m:nary>
                        <m:naryPr>
                          <m:chr m:val="∑"/>
                          <m:ctrlP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 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1DAA8D3E-E94A-49DD-AE4E-A1E26DC7F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230" y="3400762"/>
                <a:ext cx="3565909" cy="9286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10">
                <a:extLst>
                  <a:ext uri="{FF2B5EF4-FFF2-40B4-BE49-F238E27FC236}">
                    <a16:creationId xmlns:a16="http://schemas.microsoft.com/office/drawing/2014/main" id="{3444ED80-1305-495C-B20D-AAF65445DD42}"/>
                  </a:ext>
                </a:extLst>
              </p:cNvPr>
              <p:cNvSpPr txBox="1"/>
              <p:nvPr/>
            </p:nvSpPr>
            <p:spPr bwMode="auto">
              <a:xfrm>
                <a:off x="255190" y="4560087"/>
                <a:ext cx="3805645" cy="11779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tIns="108000" bIns="10800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Object 10">
                <a:extLst>
                  <a:ext uri="{FF2B5EF4-FFF2-40B4-BE49-F238E27FC236}">
                    <a16:creationId xmlns:a16="http://schemas.microsoft.com/office/drawing/2014/main" id="{3444ED80-1305-495C-B20D-AAF65445D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190" y="4560087"/>
                <a:ext cx="3805645" cy="11779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5282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A016240-07A1-4F14-9D60-D8A52564EB73}"/>
              </a:ext>
            </a:extLst>
          </p:cNvPr>
          <p:cNvSpPr txBox="1">
            <a:spLocks/>
          </p:cNvSpPr>
          <p:nvPr/>
        </p:nvSpPr>
        <p:spPr bwMode="auto">
          <a:xfrm>
            <a:off x="1294159" y="299072"/>
            <a:ext cx="9034413" cy="673115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7200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2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卷积和</a:t>
            </a:r>
            <a:r>
              <a:rPr lang="en-US" altLang="zh-CN" sz="3200" b="1" kern="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&amp;</a:t>
            </a:r>
            <a:r>
              <a:rPr lang="zh-CN" altLang="en-US" sz="3200" b="1" kern="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卷积积分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求解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LTI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系统的算法机制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F333A21-372E-4036-8921-20EA27EA9C95}"/>
              </a:ext>
            </a:extLst>
          </p:cNvPr>
          <p:cNvSpPr/>
          <p:nvPr/>
        </p:nvSpPr>
        <p:spPr bwMode="auto">
          <a:xfrm>
            <a:off x="188632" y="1252678"/>
            <a:ext cx="3609250" cy="284647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CB605558-4F24-414F-8090-1449DCDB3B03}"/>
              </a:ext>
            </a:extLst>
          </p:cNvPr>
          <p:cNvSpPr txBox="1">
            <a:spLocks/>
          </p:cNvSpPr>
          <p:nvPr/>
        </p:nvSpPr>
        <p:spPr bwMode="auto">
          <a:xfrm>
            <a:off x="194143" y="1863208"/>
            <a:ext cx="3125075" cy="400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卷积算法的讲解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D3CC9D-6857-4739-B4A2-2B97428CB160}"/>
              </a:ext>
            </a:extLst>
          </p:cNvPr>
          <p:cNvSpPr/>
          <p:nvPr/>
        </p:nvSpPr>
        <p:spPr>
          <a:xfrm>
            <a:off x="672809" y="2410961"/>
            <a:ext cx="31250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激励信号的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分解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7C4A58-90B6-4111-98B1-000D6E51A798}"/>
              </a:ext>
            </a:extLst>
          </p:cNvPr>
          <p:cNvSpPr/>
          <p:nvPr/>
        </p:nvSpPr>
        <p:spPr>
          <a:xfrm>
            <a:off x="672809" y="2874804"/>
            <a:ext cx="31250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基本信号的系统响应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D0211B-ABB2-4BA9-838B-2612FF29036D}"/>
              </a:ext>
            </a:extLst>
          </p:cNvPr>
          <p:cNvSpPr/>
          <p:nvPr/>
        </p:nvSpPr>
        <p:spPr>
          <a:xfrm>
            <a:off x="672809" y="3338647"/>
            <a:ext cx="31250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系统响应的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合成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B90000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CF2436C-C2ED-42BF-8A5F-6B6FC76D9545}"/>
              </a:ext>
            </a:extLst>
          </p:cNvPr>
          <p:cNvGrpSpPr/>
          <p:nvPr/>
        </p:nvGrpSpPr>
        <p:grpSpPr>
          <a:xfrm>
            <a:off x="4282059" y="1252678"/>
            <a:ext cx="7444560" cy="2846477"/>
            <a:chOff x="4606294" y="854279"/>
            <a:chExt cx="7444560" cy="2846477"/>
          </a:xfrm>
          <a:effectLst/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8EE1156-7554-482B-A20F-46794043F97D}"/>
                </a:ext>
              </a:extLst>
            </p:cNvPr>
            <p:cNvSpPr/>
            <p:nvPr/>
          </p:nvSpPr>
          <p:spPr bwMode="auto">
            <a:xfrm>
              <a:off x="4606294" y="854279"/>
              <a:ext cx="7444560" cy="284647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8" name="标题 1">
              <a:extLst>
                <a:ext uri="{FF2B5EF4-FFF2-40B4-BE49-F238E27FC236}">
                  <a16:creationId xmlns:a16="http://schemas.microsoft.com/office/drawing/2014/main" id="{32B7D4F3-9399-4150-962A-39C3B2D2D0B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367588" y="979093"/>
              <a:ext cx="4353237" cy="623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b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rPr>
                <a:t>激励的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B90000">
                      <a:lumMod val="75000"/>
                    </a:srgbClr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rPr>
                <a:t>分解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rPr>
                <a:t>与响应的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B90000">
                      <a:lumMod val="75000"/>
                    </a:srgbClr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rPr>
                <a:t>合成</a:t>
              </a: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87B2C08E-7B39-47BD-ABD2-A8A2B138D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3611" y="1895177"/>
              <a:ext cx="1620371" cy="707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90000">
                      <a:lumMod val="7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激励信号 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B90000">
                      <a:lumMod val="7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x(t)</a:t>
              </a:r>
              <a:endPara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10">
              <a:extLst>
                <a:ext uri="{FF2B5EF4-FFF2-40B4-BE49-F238E27FC236}">
                  <a16:creationId xmlns:a16="http://schemas.microsoft.com/office/drawing/2014/main" id="{FBA1D0BF-AC28-4B4A-9A8F-790F2064F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11202" y="1895177"/>
              <a:ext cx="1619247" cy="707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90000">
                      <a:lumMod val="75000"/>
                    </a:srgbClr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rPr>
                <a:t>响应信号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B90000">
                      <a:lumMod val="7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y(t)</a:t>
              </a:r>
              <a:endPara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6">
              <a:extLst>
                <a:ext uri="{FF2B5EF4-FFF2-40B4-BE49-F238E27FC236}">
                  <a16:creationId xmlns:a16="http://schemas.microsoft.com/office/drawing/2014/main" id="{BFFD38AB-8537-4D9A-A9B8-DD503DD6D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2925" y="1853464"/>
              <a:ext cx="1669707" cy="7913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rPr>
                <a:t>系统特性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h(t)</a:t>
              </a:r>
              <a:endPara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B9000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箭头: 右 31">
              <a:extLst>
                <a:ext uri="{FF2B5EF4-FFF2-40B4-BE49-F238E27FC236}">
                  <a16:creationId xmlns:a16="http://schemas.microsoft.com/office/drawing/2014/main" id="{DEF9A857-7C69-4385-BA94-3AFC45766099}"/>
                </a:ext>
              </a:extLst>
            </p:cNvPr>
            <p:cNvSpPr/>
            <p:nvPr/>
          </p:nvSpPr>
          <p:spPr bwMode="auto">
            <a:xfrm>
              <a:off x="6775289" y="2128863"/>
              <a:ext cx="656492" cy="314797"/>
            </a:xfrm>
            <a:prstGeom prst="rightArrow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3" name="箭头: 右 32">
              <a:extLst>
                <a:ext uri="{FF2B5EF4-FFF2-40B4-BE49-F238E27FC236}">
                  <a16:creationId xmlns:a16="http://schemas.microsoft.com/office/drawing/2014/main" id="{BF1B6F24-C296-42B3-AC0D-C9FDC9251F6A}"/>
                </a:ext>
              </a:extLst>
            </p:cNvPr>
            <p:cNvSpPr/>
            <p:nvPr/>
          </p:nvSpPr>
          <p:spPr bwMode="auto">
            <a:xfrm>
              <a:off x="9215246" y="2091722"/>
              <a:ext cx="656492" cy="314797"/>
            </a:xfrm>
            <a:prstGeom prst="rightArrow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2">
                  <a:extLst>
                    <a:ext uri="{FF2B5EF4-FFF2-40B4-BE49-F238E27FC236}">
                      <a16:creationId xmlns:a16="http://schemas.microsoft.com/office/drawing/2014/main" id="{8CB2A21F-1F7D-452E-8C00-AFE90477ED40}"/>
                    </a:ext>
                  </a:extLst>
                </p:cNvPr>
                <p:cNvSpPr txBox="1"/>
                <p:nvPr/>
              </p:nvSpPr>
              <p:spPr bwMode="auto">
                <a:xfrm>
                  <a:off x="4905858" y="2782103"/>
                  <a:ext cx="2197677" cy="6806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CN" alt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 </m:t>
                        </m:r>
                        <m:r>
                          <a:rPr kumimoji="0" lang="zh-CN" alt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  <m:r>
                          <a:rPr kumimoji="0" lang="zh-CN" alt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zh-CN" alt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  <m:r>
                          <a:rPr kumimoji="0" lang="zh-CN" alt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)=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zh-CN" alt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kumimoji="0" lang="zh-CN" alt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zh-CN" alt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𝒕</m:t>
                            </m:r>
                            <m:r>
                              <a:rPr kumimoji="0" lang="zh-CN" alt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宋体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4" name="Object 2">
                  <a:extLst>
                    <a:ext uri="{FF2B5EF4-FFF2-40B4-BE49-F238E27FC236}">
                      <a16:creationId xmlns:a16="http://schemas.microsoft.com/office/drawing/2014/main" id="{8CB2A21F-1F7D-452E-8C00-AFE90477E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05858" y="2782103"/>
                  <a:ext cx="2197677" cy="68069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4">
                  <a:extLst>
                    <a:ext uri="{FF2B5EF4-FFF2-40B4-BE49-F238E27FC236}">
                      <a16:creationId xmlns:a16="http://schemas.microsoft.com/office/drawing/2014/main" id="{BED24DB9-B778-42AB-97CC-E4BAE56EDB49}"/>
                    </a:ext>
                  </a:extLst>
                </p:cNvPr>
                <p:cNvSpPr txBox="1"/>
                <p:nvPr/>
              </p:nvSpPr>
              <p:spPr bwMode="auto">
                <a:xfrm>
                  <a:off x="9486973" y="2707830"/>
                  <a:ext cx="2451942" cy="6191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CN" alt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𝒚</m:t>
                        </m:r>
                        <m:r>
                          <a:rPr kumimoji="0" lang="zh-CN" alt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zh-CN" alt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  <m:r>
                          <a:rPr kumimoji="0" lang="zh-CN" alt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)=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zh-CN" alt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kumimoji="0" lang="zh-CN" alt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zh-CN" alt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𝒕</m:t>
                            </m:r>
                            <m:r>
                              <a:rPr kumimoji="0" lang="zh-CN" alt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宋体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5" name="Object 4">
                  <a:extLst>
                    <a:ext uri="{FF2B5EF4-FFF2-40B4-BE49-F238E27FC236}">
                      <a16:creationId xmlns:a16="http://schemas.microsoft.com/office/drawing/2014/main" id="{BED24DB9-B778-42AB-97CC-E4BAE56ED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86973" y="2707830"/>
                  <a:ext cx="2451942" cy="61916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1">
                <a:extLst>
                  <a:ext uri="{FF2B5EF4-FFF2-40B4-BE49-F238E27FC236}">
                    <a16:creationId xmlns:a16="http://schemas.microsoft.com/office/drawing/2014/main" id="{1E50B754-3365-438E-845C-5BF2D1B0607B}"/>
                  </a:ext>
                </a:extLst>
              </p:cNvPr>
              <p:cNvSpPr txBox="1"/>
              <p:nvPr/>
            </p:nvSpPr>
            <p:spPr bwMode="auto">
              <a:xfrm>
                <a:off x="2947568" y="4607925"/>
                <a:ext cx="5302249" cy="9973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accent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 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]∗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=−∞</m:t>
                          </m:r>
                        </m:sub>
                        <m:sup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+∞</m:t>
                          </m:r>
                        </m:sup>
                        <m:e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h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e>
                      </m:nary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 </m:t>
                      </m:r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37" name="Object 11">
                <a:extLst>
                  <a:ext uri="{FF2B5EF4-FFF2-40B4-BE49-F238E27FC236}">
                    <a16:creationId xmlns:a16="http://schemas.microsoft.com/office/drawing/2014/main" id="{1E50B754-3365-438E-845C-5BF2D1B06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7568" y="4607925"/>
                <a:ext cx="5302249" cy="9973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accent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2">
                <a:extLst>
                  <a:ext uri="{FF2B5EF4-FFF2-40B4-BE49-F238E27FC236}">
                    <a16:creationId xmlns:a16="http://schemas.microsoft.com/office/drawing/2014/main" id="{24A64205-9DB7-47C8-B731-039702B6DA3E}"/>
                  </a:ext>
                </a:extLst>
              </p:cNvPr>
              <p:cNvSpPr txBox="1"/>
              <p:nvPr/>
            </p:nvSpPr>
            <p:spPr bwMode="auto">
              <a:xfrm>
                <a:off x="2947568" y="5700341"/>
                <a:ext cx="5302249" cy="824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accent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)∗</m:t>
                      </m:r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  <m:r>
                        <a:rPr kumimoji="0" lang="zh-CN" alt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nary>
                        <m:naryPr>
                          <m:ctrlP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b>
                        <m:sup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𝜏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𝜏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𝑑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38" name="Object 12">
                <a:extLst>
                  <a:ext uri="{FF2B5EF4-FFF2-40B4-BE49-F238E27FC236}">
                    <a16:creationId xmlns:a16="http://schemas.microsoft.com/office/drawing/2014/main" id="{24A64205-9DB7-47C8-B731-039702B6D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7568" y="5700341"/>
                <a:ext cx="5302249" cy="8246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accent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8854910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66910" y="96722"/>
            <a:ext cx="7858180" cy="693861"/>
          </a:xfr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bIns="180000"/>
          <a:lstStyle/>
          <a:p>
            <a:pPr algn="ctr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卷积求和 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 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卷积积分上下限对应的</a:t>
            </a:r>
            <a:r>
              <a:rPr lang="zh-CN" altLang="en-US" sz="2400" b="1" dirty="0">
                <a:solidFill>
                  <a:srgbClr val="9933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数学和物理意义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8F99F78-FD7B-41F9-8754-B14EEC8715BA}"/>
              </a:ext>
            </a:extLst>
          </p:cNvPr>
          <p:cNvGrpSpPr/>
          <p:nvPr/>
        </p:nvGrpSpPr>
        <p:grpSpPr>
          <a:xfrm>
            <a:off x="2061271" y="802101"/>
            <a:ext cx="8068558" cy="1410617"/>
            <a:chOff x="720281" y="758814"/>
            <a:chExt cx="10525988" cy="1748790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FA95614A-68C0-44BB-9278-3021D53B008F}"/>
                </a:ext>
              </a:extLst>
            </p:cNvPr>
            <p:cNvGrpSpPr/>
            <p:nvPr/>
          </p:nvGrpSpPr>
          <p:grpSpPr>
            <a:xfrm>
              <a:off x="720281" y="777747"/>
              <a:ext cx="5742960" cy="1701800"/>
              <a:chOff x="2819188" y="822525"/>
              <a:chExt cx="5742960" cy="1701800"/>
            </a:xfrm>
          </p:grpSpPr>
          <p:grpSp>
            <p:nvGrpSpPr>
              <p:cNvPr id="82" name="Group 16">
                <a:extLst>
                  <a:ext uri="{FF2B5EF4-FFF2-40B4-BE49-F238E27FC236}">
                    <a16:creationId xmlns:a16="http://schemas.microsoft.com/office/drawing/2014/main" id="{FA2A4A27-DF6F-40D3-A238-52B04BF921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9188" y="907537"/>
                <a:ext cx="2743200" cy="1602740"/>
                <a:chOff x="576" y="528"/>
                <a:chExt cx="2160" cy="1262"/>
              </a:xfrm>
            </p:grpSpPr>
            <p:sp>
              <p:nvSpPr>
                <p:cNvPr id="83" name="Text Box 17">
                  <a:extLst>
                    <a:ext uri="{FF2B5EF4-FFF2-40B4-BE49-F238E27FC236}">
                      <a16:creationId xmlns:a16="http://schemas.microsoft.com/office/drawing/2014/main" id="{F51A352F-0BE3-4194-9621-CEB771C314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2" y="1584"/>
                  <a:ext cx="432" cy="206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-1/2</a:t>
                  </a:r>
                </a:p>
              </p:txBody>
            </p:sp>
            <p:sp>
              <p:nvSpPr>
                <p:cNvPr id="84" name="Text Box 18">
                  <a:extLst>
                    <a:ext uri="{FF2B5EF4-FFF2-40B4-BE49-F238E27FC236}">
                      <a16:creationId xmlns:a16="http://schemas.microsoft.com/office/drawing/2014/main" id="{6B2C168B-3691-4605-A985-7B3E649C7C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2" y="1584"/>
                  <a:ext cx="336" cy="206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85" name="Line 19">
                  <a:extLst>
                    <a:ext uri="{FF2B5EF4-FFF2-40B4-BE49-F238E27FC236}">
                      <a16:creationId xmlns:a16="http://schemas.microsoft.com/office/drawing/2014/main" id="{E01162FE-B3E0-4FEE-8562-7FD4083291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1584"/>
                  <a:ext cx="192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 type="none" w="sm" len="sm"/>
                  <a:tailEnd type="triangle" w="lg" len="lg"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86" name="Line 20">
                  <a:extLst>
                    <a:ext uri="{FF2B5EF4-FFF2-40B4-BE49-F238E27FC236}">
                      <a16:creationId xmlns:a16="http://schemas.microsoft.com/office/drawing/2014/main" id="{EB8F59F7-912C-423D-9C39-E024DCFB07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488" y="528"/>
                  <a:ext cx="0" cy="105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 type="none" w="sm" len="sm"/>
                  <a:tailEnd type="triangle" w="lg" len="lg"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87" name="Text Box 21">
                  <a:extLst>
                    <a:ext uri="{FF2B5EF4-FFF2-40B4-BE49-F238E27FC236}">
                      <a16:creationId xmlns:a16="http://schemas.microsoft.com/office/drawing/2014/main" id="{8F8EBAFC-41A2-495A-AEE9-C2D8B6249F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2" y="1584"/>
                  <a:ext cx="240" cy="206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88" name="Text Box 22">
                  <a:extLst>
                    <a:ext uri="{FF2B5EF4-FFF2-40B4-BE49-F238E27FC236}">
                      <a16:creationId xmlns:a16="http://schemas.microsoft.com/office/drawing/2014/main" id="{D29C3076-A70A-4A2A-A724-D27B981518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6" y="1488"/>
                  <a:ext cx="240" cy="206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1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t</a:t>
                  </a:r>
                </a:p>
              </p:txBody>
            </p:sp>
            <p:sp>
              <p:nvSpPr>
                <p:cNvPr id="89" name="Text Box 23">
                  <a:extLst>
                    <a:ext uri="{FF2B5EF4-FFF2-40B4-BE49-F238E27FC236}">
                      <a16:creationId xmlns:a16="http://schemas.microsoft.com/office/drawing/2014/main" id="{08362E8B-1202-45DF-968C-F45A6C4C01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67" y="757"/>
                  <a:ext cx="192" cy="206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1</a:t>
                  </a:r>
                </a:p>
              </p:txBody>
            </p:sp>
          </p:grpSp>
          <p:grpSp>
            <p:nvGrpSpPr>
              <p:cNvPr id="64" name="Group 201">
                <a:extLst>
                  <a:ext uri="{FF2B5EF4-FFF2-40B4-BE49-F238E27FC236}">
                    <a16:creationId xmlns:a16="http://schemas.microsoft.com/office/drawing/2014/main" id="{0455748E-2CEC-4C24-B201-B8C327ACE7E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818948" y="822525"/>
                <a:ext cx="2743200" cy="1701800"/>
                <a:chOff x="2608" y="511"/>
                <a:chExt cx="2160" cy="1340"/>
              </a:xfrm>
            </p:grpSpPr>
            <p:sp>
              <p:nvSpPr>
                <p:cNvPr id="75" name="Line 6">
                  <a:extLst>
                    <a:ext uri="{FF2B5EF4-FFF2-40B4-BE49-F238E27FC236}">
                      <a16:creationId xmlns:a16="http://schemas.microsoft.com/office/drawing/2014/main" id="{0036431F-5992-4E05-A682-3C6CD0C4AC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08" y="1634"/>
                  <a:ext cx="192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 type="none" w="sm" len="sm"/>
                  <a:tailEnd type="triangle" w="lg" len="lg"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6" name="Line 7">
                  <a:extLst>
                    <a:ext uri="{FF2B5EF4-FFF2-40B4-BE49-F238E27FC236}">
                      <a16:creationId xmlns:a16="http://schemas.microsoft.com/office/drawing/2014/main" id="{8636EFD2-B2BA-4A78-9B1D-C30C6A4492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040" y="578"/>
                  <a:ext cx="0" cy="105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 type="none" w="sm" len="sm"/>
                  <a:tailEnd type="triangle" w="lg" len="lg"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7" name="Text Box 8">
                  <a:extLst>
                    <a:ext uri="{FF2B5EF4-FFF2-40B4-BE49-F238E27FC236}">
                      <a16:creationId xmlns:a16="http://schemas.microsoft.com/office/drawing/2014/main" id="{E1B97095-BDD5-42AD-952B-F7F97B138C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1634"/>
                  <a:ext cx="240" cy="206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78" name="Text Box 9">
                  <a:extLst>
                    <a:ext uri="{FF2B5EF4-FFF2-40B4-BE49-F238E27FC236}">
                      <a16:creationId xmlns:a16="http://schemas.microsoft.com/office/drawing/2014/main" id="{1256C360-4053-49F9-B481-55E1ABDA93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28" y="1538"/>
                  <a:ext cx="240" cy="206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1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t</a:t>
                  </a:r>
                </a:p>
              </p:txBody>
            </p:sp>
            <p:sp>
              <p:nvSpPr>
                <p:cNvPr id="79" name="Text Box 14">
                  <a:extLst>
                    <a:ext uri="{FF2B5EF4-FFF2-40B4-BE49-F238E27FC236}">
                      <a16:creationId xmlns:a16="http://schemas.microsoft.com/office/drawing/2014/main" id="{A88F3CD6-1D50-442E-A3DC-8B2C4E19BC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64" y="1645"/>
                  <a:ext cx="288" cy="206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80" name="Text Box 15">
                  <a:extLst>
                    <a:ext uri="{FF2B5EF4-FFF2-40B4-BE49-F238E27FC236}">
                      <a16:creationId xmlns:a16="http://schemas.microsoft.com/office/drawing/2014/main" id="{CE9E6DDF-EC61-429C-B4BB-47A4497E6B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09" y="511"/>
                  <a:ext cx="626" cy="300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4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h</a:t>
                  </a:r>
                  <a:r>
                    <a:rPr kumimoji="1" lang="en-US" altLang="zh-CN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(</a:t>
                  </a:r>
                  <a:r>
                    <a:rPr kumimoji="1" lang="en-US" altLang="zh-CN" sz="14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t</a:t>
                  </a:r>
                  <a:r>
                    <a:rPr kumimoji="1" lang="en-US" altLang="zh-CN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)</a:t>
                  </a:r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36C10B9-906D-44C6-B376-41F327444394}"/>
                  </a:ext>
                </a:extLst>
              </p:cNvPr>
              <p:cNvGrpSpPr/>
              <p:nvPr/>
            </p:nvGrpSpPr>
            <p:grpSpPr>
              <a:xfrm flipH="1">
                <a:off x="6342107" y="1547306"/>
                <a:ext cx="1440000" cy="710481"/>
                <a:chOff x="6990134" y="4937860"/>
                <a:chExt cx="1440000" cy="710481"/>
              </a:xfrm>
            </p:grpSpPr>
            <p:sp>
              <p:nvSpPr>
                <p:cNvPr id="72" name="Line 12">
                  <a:extLst>
                    <a:ext uri="{FF2B5EF4-FFF2-40B4-BE49-F238E27FC236}">
                      <a16:creationId xmlns:a16="http://schemas.microsoft.com/office/drawing/2014/main" id="{DE7A81E2-E33F-4D49-B7E0-7B37154BFA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031372" y="4938717"/>
                  <a:ext cx="1398280" cy="709624"/>
                </a:xfrm>
                <a:prstGeom prst="line">
                  <a:avLst/>
                </a:prstGeom>
                <a:noFill/>
                <a:ln w="25400" cap="sq">
                  <a:solidFill>
                    <a:srgbClr val="000099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3" name="Line 13">
                  <a:extLst>
                    <a:ext uri="{FF2B5EF4-FFF2-40B4-BE49-F238E27FC236}">
                      <a16:creationId xmlns:a16="http://schemas.microsoft.com/office/drawing/2014/main" id="{70CC9805-FA85-4BD6-B44D-5B1FAAA44E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012321" y="4937860"/>
                  <a:ext cx="0" cy="684000"/>
                </a:xfrm>
                <a:prstGeom prst="line">
                  <a:avLst/>
                </a:prstGeom>
                <a:noFill/>
                <a:ln w="25400" cap="sq">
                  <a:solidFill>
                    <a:srgbClr val="000099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4" name="Line 24">
                  <a:extLst>
                    <a:ext uri="{FF2B5EF4-FFF2-40B4-BE49-F238E27FC236}">
                      <a16:creationId xmlns:a16="http://schemas.microsoft.com/office/drawing/2014/main" id="{DD864C5A-42E7-426D-A44F-118F94321C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990134" y="5636351"/>
                  <a:ext cx="1440000" cy="0"/>
                </a:xfrm>
                <a:prstGeom prst="line">
                  <a:avLst/>
                </a:prstGeom>
                <a:noFill/>
                <a:ln w="25400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</p:grpSp>
          <p:sp>
            <p:nvSpPr>
              <p:cNvPr id="66" name="Text Box 10">
                <a:extLst>
                  <a:ext uri="{FF2B5EF4-FFF2-40B4-BE49-F238E27FC236}">
                    <a16:creationId xmlns:a16="http://schemas.microsoft.com/office/drawing/2014/main" id="{C9405524-8E06-4A4B-9BE4-1D0C2DDEBB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8303" y="1224181"/>
                <a:ext cx="243840" cy="261610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  <a:cs typeface="+mn-cs"/>
                  </a:rPr>
                  <a:t>1</a:t>
                </a:r>
              </a:p>
            </p:txBody>
          </p:sp>
          <p:sp>
            <p:nvSpPr>
              <p:cNvPr id="67" name="Line 11">
                <a:extLst>
                  <a:ext uri="{FF2B5EF4-FFF2-40B4-BE49-F238E27FC236}">
                    <a16:creationId xmlns:a16="http://schemas.microsoft.com/office/drawing/2014/main" id="{50E931EC-A385-4A45-AB95-96B026967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75151" y="1536827"/>
                <a:ext cx="1440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74E6D75F-E608-496F-897A-C492B7E54E1C}"/>
                  </a:ext>
                </a:extLst>
              </p:cNvPr>
              <p:cNvGrpSpPr/>
              <p:nvPr/>
            </p:nvGrpSpPr>
            <p:grpSpPr>
              <a:xfrm>
                <a:off x="3593035" y="1532065"/>
                <a:ext cx="1080000" cy="735240"/>
                <a:chOff x="1119158" y="4954058"/>
                <a:chExt cx="1080000" cy="735240"/>
              </a:xfrm>
            </p:grpSpPr>
            <p:sp>
              <p:nvSpPr>
                <p:cNvPr id="69" name="Line 24">
                  <a:extLst>
                    <a:ext uri="{FF2B5EF4-FFF2-40B4-BE49-F238E27FC236}">
                      <a16:creationId xmlns:a16="http://schemas.microsoft.com/office/drawing/2014/main" id="{9268EAE8-6166-42FC-9C56-20FA064D9D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19158" y="4959678"/>
                  <a:ext cx="108000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0" name="Line 25">
                  <a:extLst>
                    <a:ext uri="{FF2B5EF4-FFF2-40B4-BE49-F238E27FC236}">
                      <a16:creationId xmlns:a16="http://schemas.microsoft.com/office/drawing/2014/main" id="{FFCB5F84-7E61-4E4B-ADF4-C14704C23A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5958" y="4969298"/>
                  <a:ext cx="0" cy="72000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1" name="Line 26">
                  <a:extLst>
                    <a:ext uri="{FF2B5EF4-FFF2-40B4-BE49-F238E27FC236}">
                      <a16:creationId xmlns:a16="http://schemas.microsoft.com/office/drawing/2014/main" id="{2F9B0595-38AE-4425-B83A-C16E55011F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4398" y="4954058"/>
                  <a:ext cx="0" cy="72000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</p:grpSp>
        </p:grp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894486BE-B069-4752-BDEE-9D0E66906844}"/>
                </a:ext>
              </a:extLst>
            </p:cNvPr>
            <p:cNvGrpSpPr/>
            <p:nvPr/>
          </p:nvGrpSpPr>
          <p:grpSpPr>
            <a:xfrm>
              <a:off x="7324715" y="1518493"/>
              <a:ext cx="1440000" cy="720007"/>
              <a:chOff x="7000892" y="4937860"/>
              <a:chExt cx="1440000" cy="720007"/>
            </a:xfrm>
          </p:grpSpPr>
          <p:sp>
            <p:nvSpPr>
              <p:cNvPr id="91" name="Line 12">
                <a:extLst>
                  <a:ext uri="{FF2B5EF4-FFF2-40B4-BE49-F238E27FC236}">
                    <a16:creationId xmlns:a16="http://schemas.microsoft.com/office/drawing/2014/main" id="{EBF7E936-135E-4A47-8433-D0A20263C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31372" y="4938717"/>
                <a:ext cx="1398280" cy="709624"/>
              </a:xfrm>
              <a:prstGeom prst="line">
                <a:avLst/>
              </a:prstGeom>
              <a:noFill/>
              <a:ln w="12700" cap="sq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92" name="Line 13">
                <a:extLst>
                  <a:ext uri="{FF2B5EF4-FFF2-40B4-BE49-F238E27FC236}">
                    <a16:creationId xmlns:a16="http://schemas.microsoft.com/office/drawing/2014/main" id="{F0492027-2A43-4429-A055-6F4D7FE57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12321" y="4937860"/>
                <a:ext cx="0" cy="720000"/>
              </a:xfrm>
              <a:prstGeom prst="line">
                <a:avLst/>
              </a:prstGeom>
              <a:noFill/>
              <a:ln w="12700" cap="sq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93" name="Line 24">
                <a:extLst>
                  <a:ext uri="{FF2B5EF4-FFF2-40B4-BE49-F238E27FC236}">
                    <a16:creationId xmlns:a16="http://schemas.microsoft.com/office/drawing/2014/main" id="{D93130E2-03D5-44F0-9B81-39C7E30ED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0892" y="5657867"/>
                <a:ext cx="1440000" cy="0"/>
              </a:xfrm>
              <a:prstGeom prst="line">
                <a:avLst/>
              </a:prstGeom>
              <a:noFill/>
              <a:ln w="12700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38392548-141E-494E-AA51-D4B3C127D4EF}"/>
                </a:ext>
              </a:extLst>
            </p:cNvPr>
            <p:cNvGrpSpPr/>
            <p:nvPr/>
          </p:nvGrpSpPr>
          <p:grpSpPr>
            <a:xfrm>
              <a:off x="1939606" y="758814"/>
              <a:ext cx="8479790" cy="1748790"/>
              <a:chOff x="-3062003" y="793997"/>
              <a:chExt cx="8479790" cy="1748790"/>
            </a:xfrm>
          </p:grpSpPr>
          <p:grpSp>
            <p:nvGrpSpPr>
              <p:cNvPr id="109" name="Group 105">
                <a:extLst>
                  <a:ext uri="{FF2B5EF4-FFF2-40B4-BE49-F238E27FC236}">
                    <a16:creationId xmlns:a16="http://schemas.microsoft.com/office/drawing/2014/main" id="{5B0A45E3-9443-493C-8025-D69F3C9687A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-3062003" y="793997"/>
                <a:ext cx="8479790" cy="1748790"/>
                <a:chOff x="-4137" y="367"/>
                <a:chExt cx="6677" cy="1377"/>
              </a:xfrm>
            </p:grpSpPr>
            <p:sp>
              <p:nvSpPr>
                <p:cNvPr id="114" name="Text Box 4">
                  <a:extLst>
                    <a:ext uri="{FF2B5EF4-FFF2-40B4-BE49-F238E27FC236}">
                      <a16:creationId xmlns:a16="http://schemas.microsoft.com/office/drawing/2014/main" id="{DCB920E0-4457-462B-B452-12FD6F0F73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4137" y="367"/>
                  <a:ext cx="480" cy="300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4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e</a:t>
                  </a:r>
                  <a:r>
                    <a:rPr kumimoji="1" lang="en-US" altLang="zh-CN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(</a:t>
                  </a:r>
                  <a:r>
                    <a:rPr kumimoji="1" lang="en-US" altLang="zh-CN" sz="14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t</a:t>
                  </a:r>
                  <a:r>
                    <a:rPr kumimoji="1" lang="en-US" altLang="zh-CN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</a:rPr>
                    <a:t>)</a:t>
                  </a:r>
                </a:p>
              </p:txBody>
            </p:sp>
            <p:grpSp>
              <p:nvGrpSpPr>
                <p:cNvPr id="115" name="Group 16">
                  <a:extLst>
                    <a:ext uri="{FF2B5EF4-FFF2-40B4-BE49-F238E27FC236}">
                      <a16:creationId xmlns:a16="http://schemas.microsoft.com/office/drawing/2014/main" id="{95796A45-E834-4B40-A98D-CF5D92FE854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0" y="482"/>
                  <a:ext cx="1920" cy="1262"/>
                  <a:chOff x="576" y="528"/>
                  <a:chExt cx="1920" cy="1262"/>
                </a:xfrm>
              </p:grpSpPr>
              <p:sp>
                <p:nvSpPr>
                  <p:cNvPr id="116" name="Text Box 17">
                    <a:extLst>
                      <a:ext uri="{FF2B5EF4-FFF2-40B4-BE49-F238E27FC236}">
                        <a16:creationId xmlns:a16="http://schemas.microsoft.com/office/drawing/2014/main" id="{2FC2E1CE-880A-4A39-BC52-FADAB860910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12" y="1584"/>
                    <a:ext cx="432" cy="206"/>
                  </a:xfrm>
                  <a:prstGeom prst="rect">
                    <a:avLst/>
                  </a:prstGeom>
                  <a:noFill/>
                  <a:ln w="12700" cap="sq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宋体" charset="-122"/>
                        <a:cs typeface="+mn-cs"/>
                      </a:rPr>
                      <a:t>-1/2</a:t>
                    </a:r>
                  </a:p>
                </p:txBody>
              </p:sp>
              <p:sp>
                <p:nvSpPr>
                  <p:cNvPr id="117" name="Text Box 18">
                    <a:extLst>
                      <a:ext uri="{FF2B5EF4-FFF2-40B4-BE49-F238E27FC236}">
                        <a16:creationId xmlns:a16="http://schemas.microsoft.com/office/drawing/2014/main" id="{F93C5251-E985-45BB-B3B9-18B72DDBD0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72" y="1584"/>
                    <a:ext cx="336" cy="206"/>
                  </a:xfrm>
                  <a:prstGeom prst="rect">
                    <a:avLst/>
                  </a:prstGeom>
                  <a:noFill/>
                  <a:ln w="12700" cap="sq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宋体" charset="-122"/>
                        <a:cs typeface="+mn-cs"/>
                      </a:rPr>
                      <a:t>1</a:t>
                    </a:r>
                  </a:p>
                </p:txBody>
              </p:sp>
              <p:sp>
                <p:nvSpPr>
                  <p:cNvPr id="118" name="Line 19">
                    <a:extLst>
                      <a:ext uri="{FF2B5EF4-FFF2-40B4-BE49-F238E27FC236}">
                        <a16:creationId xmlns:a16="http://schemas.microsoft.com/office/drawing/2014/main" id="{43583405-1829-4A20-9688-0ECDC40472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6" y="1584"/>
                    <a:ext cx="192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 type="none" w="sm" len="sm"/>
                    <a:tailEnd type="triangle" w="lg" len="lg"/>
                  </a:ln>
                  <a:effectLst/>
                </p:spPr>
                <p:txBody>
                  <a:bodyPr wrap="none"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34" charset="0"/>
                      <a:ea typeface="宋体" charset="-122"/>
                      <a:cs typeface="+mn-cs"/>
                    </a:endParaRPr>
                  </a:p>
                </p:txBody>
              </p:sp>
              <p:sp>
                <p:nvSpPr>
                  <p:cNvPr id="119" name="Line 20">
                    <a:extLst>
                      <a:ext uri="{FF2B5EF4-FFF2-40B4-BE49-F238E27FC236}">
                        <a16:creationId xmlns:a16="http://schemas.microsoft.com/office/drawing/2014/main" id="{9B40A36E-8890-40DF-A82F-8CDF0418366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88" y="528"/>
                    <a:ext cx="0" cy="1056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 type="none" w="sm" len="sm"/>
                    <a:tailEnd type="triangle" w="lg" len="lg"/>
                  </a:ln>
                  <a:effectLst/>
                </p:spPr>
                <p:txBody>
                  <a:bodyPr wrap="none"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34" charset="0"/>
                      <a:ea typeface="宋体" charset="-122"/>
                      <a:cs typeface="+mn-cs"/>
                    </a:endParaRPr>
                  </a:p>
                </p:txBody>
              </p:sp>
              <p:sp>
                <p:nvSpPr>
                  <p:cNvPr id="120" name="Text Box 21">
                    <a:extLst>
                      <a:ext uri="{FF2B5EF4-FFF2-40B4-BE49-F238E27FC236}">
                        <a16:creationId xmlns:a16="http://schemas.microsoft.com/office/drawing/2014/main" id="{DA8D51FE-073F-477F-B43D-CD7656C8ECE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92" y="1584"/>
                    <a:ext cx="240" cy="206"/>
                  </a:xfrm>
                  <a:prstGeom prst="rect">
                    <a:avLst/>
                  </a:prstGeom>
                  <a:noFill/>
                  <a:ln w="12700" cap="sq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宋体" charset="-122"/>
                        <a:cs typeface="+mn-cs"/>
                      </a:rPr>
                      <a:t>0</a:t>
                    </a:r>
                  </a:p>
                </p:txBody>
              </p:sp>
              <p:sp>
                <p:nvSpPr>
                  <p:cNvPr id="121" name="Text Box 22">
                    <a:extLst>
                      <a:ext uri="{FF2B5EF4-FFF2-40B4-BE49-F238E27FC236}">
                        <a16:creationId xmlns:a16="http://schemas.microsoft.com/office/drawing/2014/main" id="{79CDC0F9-75F3-491B-8A5C-B135AF26C22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5" y="1533"/>
                    <a:ext cx="240" cy="206"/>
                  </a:xfrm>
                  <a:prstGeom prst="rect">
                    <a:avLst/>
                  </a:prstGeom>
                  <a:noFill/>
                  <a:ln w="12700" cap="sq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1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宋体" charset="-122"/>
                        <a:cs typeface="+mn-cs"/>
                      </a:rPr>
                      <a:t>t</a:t>
                    </a:r>
                  </a:p>
                </p:txBody>
              </p:sp>
              <p:sp>
                <p:nvSpPr>
                  <p:cNvPr id="122" name="Text Box 23">
                    <a:extLst>
                      <a:ext uri="{FF2B5EF4-FFF2-40B4-BE49-F238E27FC236}">
                        <a16:creationId xmlns:a16="http://schemas.microsoft.com/office/drawing/2014/main" id="{6F6D54E0-A862-4235-8388-BE25616752D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7" y="757"/>
                    <a:ext cx="192" cy="206"/>
                  </a:xfrm>
                  <a:prstGeom prst="rect">
                    <a:avLst/>
                  </a:prstGeom>
                  <a:noFill/>
                  <a:ln w="12700" cap="sq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宋体" charset="-122"/>
                        <a:cs typeface="+mn-cs"/>
                      </a:rPr>
                      <a:t>1</a:t>
                    </a:r>
                  </a:p>
                </p:txBody>
              </p:sp>
            </p:grpSp>
          </p:grpSp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AC943747-B1C0-4142-B8AA-3F194DEAD09E}"/>
                  </a:ext>
                </a:extLst>
              </p:cNvPr>
              <p:cNvGrpSpPr/>
              <p:nvPr/>
            </p:nvGrpSpPr>
            <p:grpSpPr>
              <a:xfrm>
                <a:off x="3753234" y="1564575"/>
                <a:ext cx="1080000" cy="735240"/>
                <a:chOff x="1119158" y="4954058"/>
                <a:chExt cx="1080000" cy="735240"/>
              </a:xfrm>
            </p:grpSpPr>
            <p:sp>
              <p:nvSpPr>
                <p:cNvPr id="111" name="Line 24">
                  <a:extLst>
                    <a:ext uri="{FF2B5EF4-FFF2-40B4-BE49-F238E27FC236}">
                      <a16:creationId xmlns:a16="http://schemas.microsoft.com/office/drawing/2014/main" id="{19BDCAE5-BE5F-45DE-BF9E-70D5F6FA73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19158" y="4959678"/>
                  <a:ext cx="108000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112" name="Line 25">
                  <a:extLst>
                    <a:ext uri="{FF2B5EF4-FFF2-40B4-BE49-F238E27FC236}">
                      <a16:creationId xmlns:a16="http://schemas.microsoft.com/office/drawing/2014/main" id="{25A8E748-55C0-44C2-B0EB-F10FF0CC23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5958" y="4969298"/>
                  <a:ext cx="0" cy="72000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113" name="Line 26">
                  <a:extLst>
                    <a:ext uri="{FF2B5EF4-FFF2-40B4-BE49-F238E27FC236}">
                      <a16:creationId xmlns:a16="http://schemas.microsoft.com/office/drawing/2014/main" id="{B7C07B68-D672-46D2-BEC7-AA9CDFBFF8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4398" y="4954058"/>
                  <a:ext cx="0" cy="72000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34" charset="0"/>
                    <a:ea typeface="宋体" charset="-122"/>
                    <a:cs typeface="+mn-cs"/>
                  </a:endParaRPr>
                </a:p>
              </p:txBody>
            </p:sp>
          </p:grp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F1884D78-FB24-4EE7-8803-A9CB7BFD6C35}"/>
                </a:ext>
              </a:extLst>
            </p:cNvPr>
            <p:cNvGrpSpPr/>
            <p:nvPr/>
          </p:nvGrpSpPr>
          <p:grpSpPr>
            <a:xfrm>
              <a:off x="9384441" y="1522414"/>
              <a:ext cx="1440000" cy="720007"/>
              <a:chOff x="7000892" y="4937860"/>
              <a:chExt cx="1440000" cy="720007"/>
            </a:xfrm>
          </p:grpSpPr>
          <p:sp>
            <p:nvSpPr>
              <p:cNvPr id="124" name="Line 12">
                <a:extLst>
                  <a:ext uri="{FF2B5EF4-FFF2-40B4-BE49-F238E27FC236}">
                    <a16:creationId xmlns:a16="http://schemas.microsoft.com/office/drawing/2014/main" id="{36197185-6E0E-4A7D-971E-BB8849C7A4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31372" y="4938717"/>
                <a:ext cx="1398280" cy="709624"/>
              </a:xfrm>
              <a:prstGeom prst="line">
                <a:avLst/>
              </a:prstGeom>
              <a:noFill/>
              <a:ln w="12700" cap="sq">
                <a:solidFill>
                  <a:schemeClr val="accent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25" name="Line 13">
                <a:extLst>
                  <a:ext uri="{FF2B5EF4-FFF2-40B4-BE49-F238E27FC236}">
                    <a16:creationId xmlns:a16="http://schemas.microsoft.com/office/drawing/2014/main" id="{0DD45FA2-F4A9-4754-83A2-8F4E0FC882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12321" y="4937860"/>
                <a:ext cx="0" cy="720000"/>
              </a:xfrm>
              <a:prstGeom prst="line">
                <a:avLst/>
              </a:prstGeom>
              <a:noFill/>
              <a:ln w="12700" cap="sq">
                <a:solidFill>
                  <a:schemeClr val="accent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26" name="Line 24">
                <a:extLst>
                  <a:ext uri="{FF2B5EF4-FFF2-40B4-BE49-F238E27FC236}">
                    <a16:creationId xmlns:a16="http://schemas.microsoft.com/office/drawing/2014/main" id="{59671098-A190-4137-B468-5C55372C9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0892" y="5657867"/>
                <a:ext cx="144000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B48AC1A5-F1AE-4E1A-98C5-6B5EBB029C81}"/>
                </a:ext>
              </a:extLst>
            </p:cNvPr>
            <p:cNvGrpSpPr/>
            <p:nvPr/>
          </p:nvGrpSpPr>
          <p:grpSpPr>
            <a:xfrm>
              <a:off x="9806269" y="1526080"/>
              <a:ext cx="1440000" cy="720007"/>
              <a:chOff x="7000892" y="4937860"/>
              <a:chExt cx="1440000" cy="720007"/>
            </a:xfrm>
          </p:grpSpPr>
          <p:sp>
            <p:nvSpPr>
              <p:cNvPr id="132" name="Line 12">
                <a:extLst>
                  <a:ext uri="{FF2B5EF4-FFF2-40B4-BE49-F238E27FC236}">
                    <a16:creationId xmlns:a16="http://schemas.microsoft.com/office/drawing/2014/main" id="{1A0A7939-D4B7-4585-8086-BF1BD5ACF4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31372" y="4938717"/>
                <a:ext cx="1398280" cy="709624"/>
              </a:xfrm>
              <a:prstGeom prst="line">
                <a:avLst/>
              </a:prstGeom>
              <a:noFill/>
              <a:ln w="12700" cap="sq">
                <a:solidFill>
                  <a:srgbClr val="C00000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33" name="Line 13">
                <a:extLst>
                  <a:ext uri="{FF2B5EF4-FFF2-40B4-BE49-F238E27FC236}">
                    <a16:creationId xmlns:a16="http://schemas.microsoft.com/office/drawing/2014/main" id="{998D3A14-ED01-4360-83AF-6B7807A94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12321" y="4937860"/>
                <a:ext cx="0" cy="720000"/>
              </a:xfrm>
              <a:prstGeom prst="line">
                <a:avLst/>
              </a:prstGeom>
              <a:noFill/>
              <a:ln w="12700" cap="sq">
                <a:solidFill>
                  <a:srgbClr val="C00000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34" name="Line 24">
                <a:extLst>
                  <a:ext uri="{FF2B5EF4-FFF2-40B4-BE49-F238E27FC236}">
                    <a16:creationId xmlns:a16="http://schemas.microsoft.com/office/drawing/2014/main" id="{79D78780-B1DD-4735-A821-62619B4A1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0892" y="5657867"/>
                <a:ext cx="1440000" cy="0"/>
              </a:xfrm>
              <a:prstGeom prst="line">
                <a:avLst/>
              </a:prstGeom>
              <a:noFill/>
              <a:ln w="12700">
                <a:solidFill>
                  <a:srgbClr val="C00000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charset="-122"/>
                  <a:cs typeface="+mn-cs"/>
                </a:endParaRPr>
              </a:p>
            </p:txBody>
          </p:sp>
        </p:grp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3C337732-1208-4211-8E7B-18B29CA2FE27}"/>
              </a:ext>
            </a:extLst>
          </p:cNvPr>
          <p:cNvSpPr/>
          <p:nvPr/>
        </p:nvSpPr>
        <p:spPr bwMode="auto">
          <a:xfrm>
            <a:off x="500117" y="2410366"/>
            <a:ext cx="5558369" cy="41653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内容占位符 2">
            <a:extLst>
              <a:ext uri="{FF2B5EF4-FFF2-40B4-BE49-F238E27FC236}">
                <a16:creationId xmlns:a16="http://schemas.microsoft.com/office/drawing/2014/main" id="{C0FB902E-0DA9-4A12-B924-F79216075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520" y="2904728"/>
            <a:ext cx="4396437" cy="3246638"/>
          </a:xfrm>
        </p:spPr>
        <p:txBody>
          <a:bodyPr/>
          <a:lstStyle/>
          <a:p>
            <a:pPr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数学意义（图解）：</a:t>
            </a:r>
            <a:endParaRPr lang="en-US" altLang="zh-CN" sz="1800" b="1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上下限为两函数乘积不为</a:t>
            </a:r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的区段</a:t>
            </a:r>
            <a:endParaRPr lang="en-US" altLang="zh-CN" sz="1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CN" sz="1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物理意义（因果系统）：</a:t>
            </a:r>
            <a:endParaRPr lang="en-US" altLang="zh-CN" sz="1800" b="1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下限：系统输出的起始点</a:t>
            </a:r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上限：系统输出的</a:t>
            </a:r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时刻</a:t>
            </a:r>
            <a:endParaRPr lang="en-US" altLang="zh-CN" sz="14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1" dirty="0">
                <a:solidFill>
                  <a:srgbClr val="9933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两个有限长度信号的卷积长度</a:t>
            </a:r>
            <a:endParaRPr lang="en-US" altLang="zh-CN" sz="1800" b="1" dirty="0">
              <a:solidFill>
                <a:srgbClr val="9933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左边界：系统输出的起始点</a:t>
            </a:r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右边界：输入激励长度</a:t>
            </a:r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最后一个冲激响应输出长度</a:t>
            </a:r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1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D5A3E5C-FFB2-488A-8E02-4D732CEA44B7}"/>
                  </a:ext>
                </a:extLst>
              </p:cNvPr>
              <p:cNvSpPr/>
              <p:nvPr/>
            </p:nvSpPr>
            <p:spPr>
              <a:xfrm>
                <a:off x="8520691" y="843532"/>
                <a:ext cx="107074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𝒆</m:t>
                      </m:r>
                      <m:r>
                        <a:rPr kumimoji="0" lang="en-US" altLang="zh-CN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zh-CN" altLang="en-US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𝒕</m:t>
                      </m:r>
                      <m:r>
                        <a:rPr kumimoji="0" lang="en-US" altLang="zh-CN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)∗</m:t>
                      </m:r>
                      <m:r>
                        <a:rPr kumimoji="0" lang="en-US" altLang="zh-CN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𝒉</m:t>
                      </m:r>
                      <m:r>
                        <a:rPr kumimoji="0" lang="en-US" altLang="zh-CN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zh-CN" altLang="en-US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𝒕</m:t>
                      </m:r>
                      <m:r>
                        <a:rPr kumimoji="0" lang="en-US" altLang="zh-CN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D5A3E5C-FFB2-488A-8E02-4D732CEA44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691" y="843532"/>
                <a:ext cx="1070742" cy="307777"/>
              </a:xfrm>
              <a:prstGeom prst="rect">
                <a:avLst/>
              </a:prstGeom>
              <a:blipFill>
                <a:blip r:embed="rId6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矩形 93">
            <a:extLst>
              <a:ext uri="{FF2B5EF4-FFF2-40B4-BE49-F238E27FC236}">
                <a16:creationId xmlns:a16="http://schemas.microsoft.com/office/drawing/2014/main" id="{B90F8352-8F13-4CF5-9B4D-44C67A6474B2}"/>
              </a:ext>
            </a:extLst>
          </p:cNvPr>
          <p:cNvSpPr/>
          <p:nvPr/>
        </p:nvSpPr>
        <p:spPr>
          <a:xfrm>
            <a:off x="6436448" y="5629064"/>
            <a:ext cx="5558369" cy="793359"/>
          </a:xfrm>
          <a:prstGeom prst="rect">
            <a:avLst/>
          </a:prstGeom>
          <a:ln>
            <a:solidFill>
              <a:srgbClr val="FFC000"/>
            </a:solidFill>
            <a:prstDash val="dash"/>
          </a:ln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dirty="0">
                <a:solidFill>
                  <a:srgbClr val="9933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思考：</a:t>
            </a:r>
            <a:endParaRPr lang="en-US" altLang="zh-CN" sz="1600" b="1" kern="0" dirty="0">
              <a:solidFill>
                <a:srgbClr val="9933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dirty="0">
                <a:solidFill>
                  <a:srgbClr val="9933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从信号分析的角度说明</a:t>
            </a:r>
            <a:r>
              <a:rPr lang="zh-CN" altLang="en-US" sz="1600" b="1" kern="0" dirty="0"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卷积输出的长度为什么等于</a:t>
            </a:r>
            <a:r>
              <a:rPr lang="en-US" altLang="zh-CN" sz="1600" b="1" kern="0" dirty="0"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M+N-1</a:t>
            </a:r>
            <a:r>
              <a:rPr lang="zh-CN" altLang="en-US" sz="1600" b="1" kern="0" dirty="0"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。</a:t>
            </a:r>
            <a:endParaRPr lang="zh-CN" altLang="en-US" sz="2400" b="1" dirty="0">
              <a:latin typeface="Calibri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07A69F0-CE12-4AF4-8ACC-B0E9A113ED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3462" y="2425768"/>
            <a:ext cx="4395597" cy="29202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6478099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C663BFF-F7EE-4B28-AB8C-3EAF5A5CA3F7}"/>
              </a:ext>
            </a:extLst>
          </p:cNvPr>
          <p:cNvSpPr/>
          <p:nvPr/>
        </p:nvSpPr>
        <p:spPr>
          <a:xfrm>
            <a:off x="1746462" y="2639247"/>
            <a:ext cx="83920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带着思考学习，通过实验巩固理论！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C9CFC4-CDE6-4A6A-987D-81831DB31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48" y="3429000"/>
            <a:ext cx="8152032" cy="15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1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656"/>
    </mc:Choice>
    <mc:Fallback xmlns="">
      <p:transition spd="slow" advTm="28656"/>
    </mc:Fallback>
  </mc:AlternateContent>
</p:sld>
</file>

<file path=ppt/theme/theme1.xml><?xml version="1.0" encoding="utf-8"?>
<a:theme xmlns:a="http://schemas.openxmlformats.org/drawingml/2006/main" name="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765</Words>
  <Application>Microsoft Office PowerPoint</Application>
  <PresentationFormat>宽屏</PresentationFormat>
  <Paragraphs>136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等线</vt:lpstr>
      <vt:lpstr>等线 Light</vt:lpstr>
      <vt:lpstr>华文新魏</vt:lpstr>
      <vt:lpstr>宋体</vt:lpstr>
      <vt:lpstr>微软雅黑</vt:lpstr>
      <vt:lpstr>Arial</vt:lpstr>
      <vt:lpstr>Calibri</vt:lpstr>
      <vt:lpstr>Cambria Math</vt:lpstr>
      <vt:lpstr>Times New Roman</vt:lpstr>
      <vt:lpstr>Verdana</vt:lpstr>
      <vt:lpstr>Wingdings</vt:lpstr>
      <vt:lpstr>2_Profile</vt:lpstr>
      <vt:lpstr>1_Office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卷积求和 &amp; 卷积积分上下限对应的数学和物理意义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geophy</dc:creator>
  <cp:lastModifiedBy>geophy2</cp:lastModifiedBy>
  <cp:revision>70</cp:revision>
  <cp:lastPrinted>2023-10-26T02:52:09Z</cp:lastPrinted>
  <dcterms:created xsi:type="dcterms:W3CDTF">2020-09-27T06:53:43Z</dcterms:created>
  <dcterms:modified xsi:type="dcterms:W3CDTF">2025-10-09T02:46:20Z</dcterms:modified>
</cp:coreProperties>
</file>