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2781"/>
    <a:srgbClr val="2F5395"/>
    <a:srgbClr val="A66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14677-2032-46F6-806B-8ED8069A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86617-7061-461A-8A76-5CC0441410EB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19498-CB53-4BB7-8DE9-3718715E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8D3F5-2B9F-41B3-AD3E-C6DF340D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3C798-E09E-4696-9B9D-AF63436881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49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_自定义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2235F73-E4DD-424F-A24C-E5BC925803B4}"/>
              </a:ext>
            </a:extLst>
          </p:cNvPr>
          <p:cNvSpPr/>
          <p:nvPr/>
        </p:nvSpPr>
        <p:spPr>
          <a:xfrm>
            <a:off x="0" y="1753985"/>
            <a:ext cx="12192000" cy="1745673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  <a:lumMod val="70000"/>
                  <a:lumOff val="30000"/>
                </a:schemeClr>
              </a:gs>
              <a:gs pos="5000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alpha val="80000"/>
                  <a:lumMod val="70000"/>
                  <a:lumOff val="30000"/>
                </a:schemeClr>
              </a:gs>
            </a:gsLst>
            <a:lin ang="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522188F-7A4C-4C38-851F-98F449BB729C}"/>
              </a:ext>
            </a:extLst>
          </p:cNvPr>
          <p:cNvCxnSpPr/>
          <p:nvPr/>
        </p:nvCxnSpPr>
        <p:spPr>
          <a:xfrm>
            <a:off x="0" y="169545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1D46729-CC47-4541-BA40-70E468D991A2}"/>
              </a:ext>
            </a:extLst>
          </p:cNvPr>
          <p:cNvCxnSpPr/>
          <p:nvPr/>
        </p:nvCxnSpPr>
        <p:spPr>
          <a:xfrm>
            <a:off x="0" y="356076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27" y="1961169"/>
            <a:ext cx="10515598" cy="1325563"/>
          </a:xfrm>
        </p:spPr>
        <p:txBody>
          <a:bodyPr>
            <a:noAutofit/>
          </a:bodyPr>
          <a:lstStyle>
            <a:lvl1pPr algn="ctr">
              <a:defRPr sz="4400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914226" y="3991582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914226" y="5181774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914226" y="5858050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25705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_NJ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0CC4D0-764C-42BD-9A5D-8A0B6BED7ED9}"/>
              </a:ext>
            </a:extLst>
          </p:cNvPr>
          <p:cNvSpPr/>
          <p:nvPr/>
        </p:nvSpPr>
        <p:spPr>
          <a:xfrm>
            <a:off x="0" y="1762300"/>
            <a:ext cx="12192000" cy="1766368"/>
          </a:xfrm>
          <a:prstGeom prst="rect">
            <a:avLst/>
          </a:prstGeom>
          <a:gradFill>
            <a:gsLst>
              <a:gs pos="0">
                <a:srgbClr val="A66BD3">
                  <a:alpha val="80000"/>
                </a:srgbClr>
              </a:gs>
              <a:gs pos="50000">
                <a:srgbClr val="7030A0">
                  <a:alpha val="90000"/>
                </a:srgbClr>
              </a:gs>
              <a:gs pos="100000">
                <a:srgbClr val="A66BD3">
                  <a:alpha val="80000"/>
                </a:srgbClr>
              </a:gs>
            </a:gsLst>
            <a:lin ang="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D1A1F46-59A8-4C23-A7EF-5CB9C252086E}"/>
              </a:ext>
            </a:extLst>
          </p:cNvPr>
          <p:cNvCxnSpPr/>
          <p:nvPr/>
        </p:nvCxnSpPr>
        <p:spPr>
          <a:xfrm>
            <a:off x="0" y="1695450"/>
            <a:ext cx="1219200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A193772-EECE-416C-BB28-92B26F26A33D}"/>
              </a:ext>
            </a:extLst>
          </p:cNvPr>
          <p:cNvCxnSpPr/>
          <p:nvPr/>
        </p:nvCxnSpPr>
        <p:spPr>
          <a:xfrm>
            <a:off x="0" y="3614738"/>
            <a:ext cx="1219200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9">
            <a:extLst>
              <a:ext uri="{FF2B5EF4-FFF2-40B4-BE49-F238E27FC236}">
                <a16:creationId xmlns:a16="http://schemas.microsoft.com/office/drawing/2014/main" id="{2723E930-8ED8-4F86-96A1-7898C701E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133350"/>
            <a:ext cx="2473325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0">
            <a:extLst>
              <a:ext uri="{FF2B5EF4-FFF2-40B4-BE49-F238E27FC236}">
                <a16:creationId xmlns:a16="http://schemas.microsoft.com/office/drawing/2014/main" id="{132533DC-5387-4CC8-85ED-2EF45B9E3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8" y="128588"/>
            <a:ext cx="8763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27" y="1961169"/>
            <a:ext cx="10515598" cy="1325563"/>
          </a:xfrm>
        </p:spPr>
        <p:txBody>
          <a:bodyPr>
            <a:noAutofit/>
          </a:bodyPr>
          <a:lstStyle>
            <a:lvl1pPr algn="ctr">
              <a:defRPr sz="4400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914226" y="3991582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914226" y="5181774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914226" y="5858050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5009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_NJ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9247153-A0CC-4BD8-B0D8-E2EB33C98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" t="26756" r="1420" b="39221"/>
          <a:stretch/>
        </p:blipFill>
        <p:spPr>
          <a:xfrm>
            <a:off x="0" y="454027"/>
            <a:ext cx="12192000" cy="640397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80E3812-28FA-4380-90C9-35EF0B95E86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C0E89">
                  <a:shade val="30000"/>
                  <a:satMod val="115000"/>
                </a:srgbClr>
              </a:gs>
              <a:gs pos="50000">
                <a:srgbClr val="8C0E89">
                  <a:shade val="67500"/>
                  <a:satMod val="115000"/>
                </a:srgbClr>
              </a:gs>
              <a:gs pos="100000">
                <a:srgbClr val="8C0E89">
                  <a:shade val="100000"/>
                  <a:satMod val="115000"/>
                  <a:alpha val="80000"/>
                </a:srgb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-Medium"/>
              <a:ea typeface="阿里巴巴普惠体 R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A2D56FD-5E71-411F-8729-D27C2C783AD2}"/>
              </a:ext>
            </a:extLst>
          </p:cNvPr>
          <p:cNvCxnSpPr/>
          <p:nvPr/>
        </p:nvCxnSpPr>
        <p:spPr>
          <a:xfrm>
            <a:off x="4987925" y="4784725"/>
            <a:ext cx="0" cy="4683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1844790"/>
            <a:ext cx="7441276" cy="1325563"/>
          </a:xfrm>
        </p:spPr>
        <p:txBody>
          <a:bodyPr>
            <a:noAutofit/>
          </a:bodyPr>
          <a:lstStyle>
            <a:lvl1pPr>
              <a:defRPr sz="4400" spc="30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094315" y="4784668"/>
            <a:ext cx="1597430" cy="4688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838199" y="3332810"/>
            <a:ext cx="7441276" cy="63976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838198" y="4784668"/>
            <a:ext cx="4057998" cy="4688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842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_BEAM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02410C-50ED-434D-973E-D0481139815A}"/>
              </a:ext>
            </a:extLst>
          </p:cNvPr>
          <p:cNvSpPr/>
          <p:nvPr userDrawn="1"/>
        </p:nvSpPr>
        <p:spPr>
          <a:xfrm>
            <a:off x="0" y="1305098"/>
            <a:ext cx="12192000" cy="44585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1D46729-CC47-4541-BA40-70E468D991A2}"/>
              </a:ext>
            </a:extLst>
          </p:cNvPr>
          <p:cNvCxnSpPr/>
          <p:nvPr/>
        </p:nvCxnSpPr>
        <p:spPr>
          <a:xfrm>
            <a:off x="0" y="3835083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27" y="1961169"/>
            <a:ext cx="10515598" cy="1325563"/>
          </a:xfrm>
        </p:spPr>
        <p:txBody>
          <a:bodyPr>
            <a:noAutofit/>
          </a:bodyPr>
          <a:lstStyle>
            <a:lvl1pPr algn="ctr">
              <a:defRPr sz="4400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914225" y="4192635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914226" y="4890830"/>
            <a:ext cx="10515599" cy="513916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595870" y="6162748"/>
            <a:ext cx="10515599" cy="513916"/>
          </a:xfrm>
        </p:spPr>
        <p:txBody>
          <a:bodyPr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7799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自定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376AACA-B840-4CC4-9484-777ACADA339A}"/>
              </a:ext>
            </a:extLst>
          </p:cNvPr>
          <p:cNvSpPr txBox="1"/>
          <p:nvPr/>
        </p:nvSpPr>
        <p:spPr>
          <a:xfrm>
            <a:off x="920750" y="1035050"/>
            <a:ext cx="105156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提纲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8252D36-5D4F-40BF-85AF-8F483C344681}"/>
              </a:ext>
            </a:extLst>
          </p:cNvPr>
          <p:cNvCxnSpPr>
            <a:cxnSpLocks/>
          </p:cNvCxnSpPr>
          <p:nvPr/>
        </p:nvCxnSpPr>
        <p:spPr>
          <a:xfrm>
            <a:off x="921327" y="1898650"/>
            <a:ext cx="10515600" cy="0"/>
          </a:xfrm>
          <a:prstGeom prst="line">
            <a:avLst/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7030A0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921327" y="2410618"/>
            <a:ext cx="10515600" cy="2959404"/>
          </a:xfrm>
        </p:spPr>
        <p:txBody>
          <a:bodyPr/>
          <a:lstStyle>
            <a:lvl1pPr marL="0" indent="0" algn="ctr">
              <a:lnSpc>
                <a:spcPct val="200000"/>
              </a:lnSpc>
              <a:buNone/>
              <a:defRPr spc="3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</p:spTree>
    <p:extLst>
      <p:ext uri="{BB962C8B-B14F-4D97-AF65-F5344CB8AC3E}">
        <p14:creationId xmlns:p14="http://schemas.microsoft.com/office/powerpoint/2010/main" val="367862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自定义_动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72F074F-C5D0-42D7-9D44-27334C6620AF}"/>
              </a:ext>
            </a:extLst>
          </p:cNvPr>
          <p:cNvSpPr/>
          <p:nvPr/>
        </p:nvSpPr>
        <p:spPr>
          <a:xfrm>
            <a:off x="920750" y="2701925"/>
            <a:ext cx="10515600" cy="5572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rgbClr val="7030A0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2A0F10-C8BD-41CC-874C-63BB78DA5F45}"/>
              </a:ext>
            </a:extLst>
          </p:cNvPr>
          <p:cNvSpPr txBox="1"/>
          <p:nvPr/>
        </p:nvSpPr>
        <p:spPr>
          <a:xfrm>
            <a:off x="920750" y="1035050"/>
            <a:ext cx="105156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提纲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9A83F19-8E57-4009-B64D-E9DFF1C38A6B}"/>
              </a:ext>
            </a:extLst>
          </p:cNvPr>
          <p:cNvCxnSpPr>
            <a:cxnSpLocks/>
          </p:cNvCxnSpPr>
          <p:nvPr/>
        </p:nvCxnSpPr>
        <p:spPr>
          <a:xfrm>
            <a:off x="921327" y="1898650"/>
            <a:ext cx="10515600" cy="0"/>
          </a:xfrm>
          <a:prstGeom prst="line">
            <a:avLst/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7030A0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921327" y="2410618"/>
            <a:ext cx="10515600" cy="2959404"/>
          </a:xfrm>
        </p:spPr>
        <p:txBody>
          <a:bodyPr/>
          <a:lstStyle>
            <a:lvl1pPr marL="0" indent="0" algn="ctr">
              <a:lnSpc>
                <a:spcPct val="200000"/>
              </a:lnSpc>
              <a:buNone/>
              <a:defRPr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</p:spTree>
    <p:extLst>
      <p:ext uri="{BB962C8B-B14F-4D97-AF65-F5344CB8AC3E}">
        <p14:creationId xmlns:p14="http://schemas.microsoft.com/office/powerpoint/2010/main" val="240893440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自定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4D391B-66DE-4723-8F45-E1D4ED168324}"/>
              </a:ext>
            </a:extLst>
          </p:cNvPr>
          <p:cNvSpPr/>
          <p:nvPr/>
        </p:nvSpPr>
        <p:spPr>
          <a:xfrm>
            <a:off x="0" y="0"/>
            <a:ext cx="12192000" cy="1271588"/>
          </a:xfrm>
          <a:prstGeom prst="rect">
            <a:avLst/>
          </a:prstGeom>
          <a:solidFill>
            <a:srgbClr val="2F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pc="3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B71B0E-D87A-4F97-8CE9-48958D12109C}"/>
              </a:ext>
            </a:extLst>
          </p:cNvPr>
          <p:cNvCxnSpPr/>
          <p:nvPr/>
        </p:nvCxnSpPr>
        <p:spPr>
          <a:xfrm>
            <a:off x="0" y="1322388"/>
            <a:ext cx="121920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2344"/>
            <a:ext cx="10515600" cy="1147156"/>
          </a:xfrm>
        </p:spPr>
        <p:txBody>
          <a:bodyPr>
            <a:normAutofit/>
          </a:bodyPr>
          <a:lstStyle>
            <a:lvl1pPr algn="ctr">
              <a:defRPr sz="4400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73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BEA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4D391B-66DE-4723-8F45-E1D4ED168324}"/>
              </a:ext>
            </a:extLst>
          </p:cNvPr>
          <p:cNvSpPr/>
          <p:nvPr/>
        </p:nvSpPr>
        <p:spPr>
          <a:xfrm>
            <a:off x="0" y="253538"/>
            <a:ext cx="5212080" cy="10723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pc="3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53538"/>
            <a:ext cx="5212080" cy="1072343"/>
          </a:xfrm>
        </p:spPr>
        <p:txBody>
          <a:bodyPr>
            <a:noAutofit/>
          </a:bodyPr>
          <a:lstStyle>
            <a:lvl1pPr algn="ctr">
              <a:defRPr sz="2800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029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NJ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150E94A-0DFE-4D9F-8F04-95CC0155B7C7}"/>
              </a:ext>
            </a:extLst>
          </p:cNvPr>
          <p:cNvSpPr/>
          <p:nvPr/>
        </p:nvSpPr>
        <p:spPr>
          <a:xfrm>
            <a:off x="0" y="0"/>
            <a:ext cx="12192000" cy="1271588"/>
          </a:xfrm>
          <a:prstGeom prst="rect">
            <a:avLst/>
          </a:prstGeom>
          <a:solidFill>
            <a:srgbClr val="5A27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pc="3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A5F35EF-A5BC-4C3D-A0F7-6EF4161BD6C1}"/>
              </a:ext>
            </a:extLst>
          </p:cNvPr>
          <p:cNvCxnSpPr/>
          <p:nvPr/>
        </p:nvCxnSpPr>
        <p:spPr>
          <a:xfrm>
            <a:off x="0" y="1322388"/>
            <a:ext cx="1219200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2344"/>
            <a:ext cx="10515600" cy="1147156"/>
          </a:xfrm>
        </p:spPr>
        <p:txBody>
          <a:bodyPr>
            <a:normAutofit/>
          </a:bodyPr>
          <a:lstStyle>
            <a:lvl1pPr algn="ctr">
              <a:defRPr sz="4400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609736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1415"/>
            <a:ext cx="10515600" cy="1325563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838200" y="4936520"/>
            <a:ext cx="10515600" cy="466753"/>
          </a:xfrm>
        </p:spPr>
        <p:txBody>
          <a:bodyPr/>
          <a:lstStyle>
            <a:lvl1pPr marL="0" indent="0" algn="r"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838200" y="5512869"/>
            <a:ext cx="10515600" cy="466753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2"/>
          </p:nvPr>
        </p:nvSpPr>
        <p:spPr>
          <a:xfrm>
            <a:off x="838200" y="3361619"/>
            <a:ext cx="10515600" cy="466753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16515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_MessageTakeHo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D345011B-2BEA-4A50-9C3A-2AEF5D94CEBA}"/>
              </a:ext>
            </a:extLst>
          </p:cNvPr>
          <p:cNvSpPr/>
          <p:nvPr/>
        </p:nvSpPr>
        <p:spPr>
          <a:xfrm>
            <a:off x="6309360" y="1861415"/>
            <a:ext cx="5044440" cy="30375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1415"/>
            <a:ext cx="5257800" cy="1325563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838200" y="3855866"/>
            <a:ext cx="5257800" cy="466753"/>
          </a:xfrm>
        </p:spPr>
        <p:txBody>
          <a:bodyPr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838200" y="4432215"/>
            <a:ext cx="5257800" cy="466753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2"/>
          </p:nvPr>
        </p:nvSpPr>
        <p:spPr>
          <a:xfrm>
            <a:off x="6521334" y="2141189"/>
            <a:ext cx="4620491" cy="46675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055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_ZM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9441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838200" y="4826187"/>
            <a:ext cx="10515600" cy="906463"/>
          </a:xfrm>
        </p:spPr>
        <p:txBody>
          <a:bodyPr>
            <a:noAutofit/>
          </a:bodyPr>
          <a:lstStyle>
            <a:lvl1pPr marL="0" indent="0" algn="r"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129091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C62ECB-A52C-4D21-A7E9-9BCBCC71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83CD5-8522-42CF-8514-1BF2342DB649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8A074-C820-4BC7-B899-5ECB35C4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56E69-2EEE-468B-A1E7-2730F5EC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4A20B-2E3B-4AD8-892F-BB4424D86C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326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5E4F1-FC0F-4EDB-AFD5-C8D04C7D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E4504-D014-4B95-ADA6-AFAE2332861E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5C7C7-6631-4235-9E8C-15556C79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FAF68-6100-4FCF-98F4-27026FB0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8402E-6DA8-46BE-AF50-6E23AC9F14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363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F533639-57A4-4E76-B5DA-985638E5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DB6C5-5B08-4AC5-8603-7E2E422F94F8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BAB16FF-B207-46E2-A746-66E1F548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690D08D-5900-421D-AC3D-877D720A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F94BE-3DEA-4754-A152-59A6F63A09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89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5FDC6CAC-6C66-4225-B53E-C98111E9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9FD73-FDCF-499D-9641-096F7BAA40D6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F92D07E4-E470-4DE0-9E74-968DC23E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266C9E7-156E-446C-8057-C28B392F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B1E8A-9232-4805-930C-3F7D4C6B2F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45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E1A9A71E-499D-454E-BE6C-EB0D7844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66F2A-045E-488D-BF90-767CF4FA8E77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87970BE-CC92-48DD-8331-9B00BF1E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D16B11B-B1F1-4FC2-BF07-F83F6229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A0566-72BE-4411-86C9-7B3C25068C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667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9392F7A-A17B-4ADE-812C-AB9B80F7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54EC0-D00D-43BA-9712-7AD177CBAC1D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48E7551-0D04-493C-AD2C-2D4A06CB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D2C73DCF-5982-4CCB-9811-A69DE636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A246E-0723-4CBC-A27B-867C589171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296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C3D1BA6-2423-40ED-9630-F6DD2ED9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5A1D0-AB66-44A8-A2C1-1B0E68C74D27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5DD3682-A64A-4CCD-A026-CB29287B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40A36DD-2AF9-4BE5-A536-CE80A5D4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2F391-2D88-4800-AC04-3FF2B166926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456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15A9DF6-161D-4856-80EF-FA24C767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4DABE-FA6F-424D-BFB8-03ED4BD78722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F6B0C25-413D-495C-9BE0-88359077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D5E3017-A1DE-4863-B22A-A157F486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183F6-155D-47AD-82BC-D38C20043A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438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C351F3-CF47-42A4-85A4-08BE9E0D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A6C98-ABC4-4E06-88FB-12B6091BC9F9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6153B-1BC8-4ABB-A343-086D2030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48AA57-6D04-4549-A24D-237BE152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5A54B-C0FB-41A1-A304-137A95A7BA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6677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421E4-5801-48E6-A806-02206ADA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51AF0-7F59-4FE5-A82E-6B94E7000384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35679-DF5A-4D6B-895B-A4F50FAE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36380F-C65C-4D8F-B42D-32DABB8F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9C31B-D10A-43F0-8D0F-14F9267E59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34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75F8F1EB-1FDD-4BFE-93F7-28D5CDDFA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28754C5E-3FC4-402D-9AE5-3102A1A70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9D6CF-7FF3-4CB3-B10A-F0AFC2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B08A0FF-6226-4D75-B343-EC9DDA7A8536}" type="datetimeFigureOut">
              <a:rPr lang="zh-CN" altLang="en-US"/>
              <a:pPr>
                <a:defRPr/>
              </a:pPr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BA4F44-50D1-478F-9D52-53D33353D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713B3-C62B-422E-A410-9EEFA3CBB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1CBD2A5-743E-449A-B66C-59BF8C8E62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1" r:id="rId2"/>
    <p:sldLayoutId id="2147483692" r:id="rId3"/>
    <p:sldLayoutId id="2147483693" r:id="rId4"/>
    <p:sldLayoutId id="2147483701" r:id="rId5"/>
    <p:sldLayoutId id="2147483694" r:id="rId6"/>
    <p:sldLayoutId id="2147483695" r:id="rId7"/>
    <p:sldLayoutId id="2147483696" r:id="rId8"/>
    <p:sldLayoutId id="2147483702" r:id="rId9"/>
    <p:sldLayoutId id="2147483697" r:id="rId10"/>
    <p:sldLayoutId id="2147483698" r:id="rId11"/>
    <p:sldLayoutId id="2147483699" r:id="rId12"/>
    <p:sldLayoutId id="214748370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54E12-FAA4-4C9F-AB68-335296F3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225" y="1794899"/>
            <a:ext cx="10515598" cy="163410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/>
              <a:t>早期太阳系的富钙铝质难熔包体（</a:t>
            </a:r>
            <a:r>
              <a:rPr lang="en-US" altLang="zh-CN" sz="3600" b="1" dirty="0"/>
              <a:t>CAI</a:t>
            </a:r>
            <a:r>
              <a:rPr lang="en-US" altLang="zh-CN" sz="3600" dirty="0"/>
              <a:t>s</a:t>
            </a:r>
            <a:r>
              <a:rPr lang="zh-CN" altLang="en-US" sz="3600" dirty="0"/>
              <a:t>）</a:t>
            </a:r>
            <a:br>
              <a:rPr lang="en-US" altLang="zh-CN" sz="4000" dirty="0"/>
            </a:br>
            <a:r>
              <a:rPr lang="en-US" altLang="zh-CN" b="1" dirty="0"/>
              <a:t>X-wind</a:t>
            </a:r>
            <a:r>
              <a:rPr lang="zh-CN" altLang="en-US" dirty="0"/>
              <a:t>成因模型及其数值模拟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EE5A2B-8F83-4FE4-B1EF-6C6C5EFDF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茅单文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EC08CF-485C-4DE0-BC9C-E8A57B3408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06/16/2026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2DE4EE-1333-4082-A2B0-BB08639A75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南京大学 地球科学与工程学院 行星科学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1941873-0005-4D9F-A6D9-989CAD2E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问题背景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ECE90B-1737-44CE-821E-E58F7F188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355"/>
          <a:stretch/>
        </p:blipFill>
        <p:spPr>
          <a:xfrm>
            <a:off x="1512509" y="1544138"/>
            <a:ext cx="8965341" cy="35223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D55ED98-1676-4B34-9B88-873D33D5B939}"/>
              </a:ext>
            </a:extLst>
          </p:cNvPr>
          <p:cNvSpPr/>
          <p:nvPr/>
        </p:nvSpPr>
        <p:spPr>
          <a:xfrm>
            <a:off x="8003097" y="2986061"/>
            <a:ext cx="2382474" cy="7633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熔点</a:t>
            </a:r>
            <a:r>
              <a:rPr lang="en-US" altLang="zh-CN" sz="2000" dirty="0"/>
              <a:t>&gt;1700K</a:t>
            </a:r>
          </a:p>
          <a:p>
            <a:pPr algn="ctr"/>
            <a:r>
              <a:rPr lang="zh-CN" altLang="en-US" sz="2000" dirty="0"/>
              <a:t>凝结于</a:t>
            </a:r>
            <a:r>
              <a:rPr lang="zh-CN" altLang="en-US" sz="2000" b="1" dirty="0">
                <a:solidFill>
                  <a:srgbClr val="FF0000"/>
                </a:solidFill>
              </a:rPr>
              <a:t>极高温</a:t>
            </a:r>
            <a:r>
              <a:rPr lang="zh-CN" altLang="en-US" sz="2000" dirty="0"/>
              <a:t>环境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0CBF41-5919-43D6-8E58-74A6F1E8CFC4}"/>
              </a:ext>
            </a:extLst>
          </p:cNvPr>
          <p:cNvSpPr/>
          <p:nvPr/>
        </p:nvSpPr>
        <p:spPr>
          <a:xfrm>
            <a:off x="8003097" y="1595884"/>
            <a:ext cx="2382474" cy="11079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球粒陨石的基质</a:t>
            </a:r>
            <a:endParaRPr lang="en-US" altLang="zh-CN" sz="2000" dirty="0"/>
          </a:p>
          <a:p>
            <a:pPr algn="ctr"/>
            <a:r>
              <a:rPr lang="zh-CN" altLang="en-US" sz="2000" dirty="0"/>
              <a:t>富含挥发性元素</a:t>
            </a:r>
            <a:endParaRPr lang="en-US" altLang="zh-CN" sz="2000" dirty="0"/>
          </a:p>
          <a:p>
            <a:pPr algn="ctr"/>
            <a:r>
              <a:rPr lang="zh-CN" altLang="en-US" sz="2000" dirty="0"/>
              <a:t>凝结于</a:t>
            </a:r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低温</a:t>
            </a:r>
            <a:r>
              <a:rPr lang="zh-CN" altLang="en-US" sz="2000" dirty="0"/>
              <a:t>环境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419401-6153-4A8A-8918-C35E05651716}"/>
              </a:ext>
            </a:extLst>
          </p:cNvPr>
          <p:cNvSpPr txBox="1"/>
          <p:nvPr/>
        </p:nvSpPr>
        <p:spPr>
          <a:xfrm>
            <a:off x="5503178" y="539292"/>
            <a:ext cx="6688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熔点差异极大的物质出现在同一陨石中！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9E3AFE-1F4B-47DE-AA83-DAF1B9D526EA}"/>
              </a:ext>
            </a:extLst>
          </p:cNvPr>
          <p:cNvSpPr txBox="1"/>
          <p:nvPr/>
        </p:nvSpPr>
        <p:spPr>
          <a:xfrm>
            <a:off x="1948736" y="5357965"/>
            <a:ext cx="8436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/>
              <a:t>时间：先热（高熔点物质）</a:t>
            </a:r>
            <a:r>
              <a:rPr lang="en-US" altLang="zh-CN" sz="2400" dirty="0"/>
              <a:t>— </a:t>
            </a:r>
            <a:r>
              <a:rPr lang="zh-CN" altLang="en-US" sz="2400" dirty="0"/>
              <a:t>后冷（低熔点物质）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/>
              <a:t>空间：近热（高熔点物质）</a:t>
            </a:r>
            <a:r>
              <a:rPr lang="en-US" altLang="zh-CN" sz="2400" dirty="0"/>
              <a:t>— </a:t>
            </a:r>
            <a:r>
              <a:rPr lang="zh-CN" altLang="en-US" sz="2400" dirty="0"/>
              <a:t>远冷（低熔点物质）</a:t>
            </a:r>
            <a:r>
              <a:rPr lang="en-US" altLang="zh-CN" sz="2400" dirty="0"/>
              <a:t>— </a:t>
            </a:r>
            <a:r>
              <a:rPr lang="zh-CN" altLang="en-US" sz="2400" b="1" dirty="0"/>
              <a:t>混合</a:t>
            </a:r>
            <a:endParaRPr lang="en-US" altLang="zh-CN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F4D8A2-5270-448C-9469-7216C866D926}"/>
              </a:ext>
            </a:extLst>
          </p:cNvPr>
          <p:cNvSpPr txBox="1"/>
          <p:nvPr/>
        </p:nvSpPr>
        <p:spPr>
          <a:xfrm>
            <a:off x="336430" y="5296411"/>
            <a:ext cx="10524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形成假说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573DB-2863-4979-80FB-D71ADFB19A9D}"/>
              </a:ext>
            </a:extLst>
          </p:cNvPr>
          <p:cNvSpPr/>
          <p:nvPr/>
        </p:nvSpPr>
        <p:spPr>
          <a:xfrm>
            <a:off x="10444293" y="5739845"/>
            <a:ext cx="1691410" cy="4154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</a:rPr>
              <a:t>X-wind</a:t>
            </a:r>
            <a:r>
              <a:rPr lang="zh-CN" altLang="en-US" sz="2000" b="1" dirty="0">
                <a:solidFill>
                  <a:srgbClr val="FF0000"/>
                </a:solidFill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224267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1941873-0005-4D9F-A6D9-989CAD2E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81F3DC-A7A5-4EAB-8450-7367AC2F4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21" y="1325881"/>
            <a:ext cx="7919207" cy="49883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B3B3FD2-674C-4B69-8788-F4EEAF5D28F3}"/>
              </a:ext>
            </a:extLst>
          </p:cNvPr>
          <p:cNvSpPr txBox="1"/>
          <p:nvPr/>
        </p:nvSpPr>
        <p:spPr>
          <a:xfrm>
            <a:off x="7586444" y="6539906"/>
            <a:ext cx="4605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i="1" dirty="0"/>
              <a:t>Shu et al., 2001, The Astrophysical Journal</a:t>
            </a:r>
            <a:endParaRPr lang="zh-CN" altLang="en-US" sz="1600" i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DDE7A4-ED32-40BA-92C1-13AF2D96A245}"/>
              </a:ext>
            </a:extLst>
          </p:cNvPr>
          <p:cNvSpPr txBox="1"/>
          <p:nvPr/>
        </p:nvSpPr>
        <p:spPr>
          <a:xfrm>
            <a:off x="5696124" y="252269"/>
            <a:ext cx="6031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引力</a:t>
            </a:r>
            <a:r>
              <a:rPr lang="en-US" altLang="zh-CN" sz="3200" b="1" dirty="0"/>
              <a:t>—</a:t>
            </a:r>
            <a:r>
              <a:rPr lang="zh-CN" altLang="en-US" sz="3200" b="1" dirty="0"/>
              <a:t>磁场</a:t>
            </a:r>
            <a:r>
              <a:rPr lang="en-US" altLang="zh-CN" sz="3200" b="1" dirty="0"/>
              <a:t>—</a:t>
            </a:r>
            <a:r>
              <a:rPr lang="zh-CN" altLang="en-US" sz="3200" b="1" dirty="0">
                <a:solidFill>
                  <a:srgbClr val="0070C0"/>
                </a:solidFill>
              </a:rPr>
              <a:t>气体</a:t>
            </a:r>
            <a:r>
              <a:rPr lang="en-US" altLang="zh-CN" sz="3200" b="1" dirty="0"/>
              <a:t>—</a:t>
            </a:r>
            <a:r>
              <a:rPr lang="zh-CN" altLang="en-US" sz="3200" b="1" dirty="0">
                <a:solidFill>
                  <a:srgbClr val="FF0000"/>
                </a:solidFill>
              </a:rPr>
              <a:t>尘埃</a:t>
            </a:r>
            <a:r>
              <a:rPr lang="zh-CN" altLang="en-US" sz="3200" b="1" dirty="0"/>
              <a:t>的耦合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DA547F6-0E5C-4E0C-8E7C-DCEFC81E1961}"/>
                  </a:ext>
                </a:extLst>
              </p:cNvPr>
              <p:cNvSpPr/>
              <p:nvPr/>
            </p:nvSpPr>
            <p:spPr>
              <a:xfrm>
                <a:off x="5501081" y="5863145"/>
                <a:ext cx="1235978" cy="9020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磁重联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磁压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=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动压</a:t>
                </a:r>
                <a:endParaRPr lang="en-US" altLang="zh-CN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</a:rPr>
                  <a:t>=</a:t>
                </a:r>
                <a:r>
                  <a:rPr lang="en-US" altLang="zh-CN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DA547F6-0E5C-4E0C-8E7C-DCEFC81E1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081" y="5863145"/>
                <a:ext cx="1235978" cy="902086"/>
              </a:xfrm>
              <a:prstGeom prst="rect">
                <a:avLst/>
              </a:prstGeom>
              <a:blipFill>
                <a:blip r:embed="rId3"/>
                <a:stretch>
                  <a:fillRect l="-3415" t="-4000" r="-3902" b="-10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8AB9267-6A48-4356-99E3-36AAEA8A5578}"/>
                  </a:ext>
                </a:extLst>
              </p:cNvPr>
              <p:cNvSpPr/>
              <p:nvPr/>
            </p:nvSpPr>
            <p:spPr>
              <a:xfrm>
                <a:off x="3575108" y="3539092"/>
                <a:ext cx="1131117" cy="80807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70C0"/>
                    </a:solidFill>
                  </a:rPr>
                  <a:t>漏斗流</a:t>
                </a:r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1800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zh-CN" altLang="en-US" b="1" dirty="0">
                    <a:solidFill>
                      <a:srgbClr val="0070C0"/>
                    </a:solidFill>
                  </a:rPr>
                  <a:t>近似真空</a:t>
                </a: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8AB9267-6A48-4356-99E3-36AAEA8A5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108" y="3539092"/>
                <a:ext cx="1131117" cy="808075"/>
              </a:xfrm>
              <a:prstGeom prst="rect">
                <a:avLst/>
              </a:prstGeom>
              <a:blipFill>
                <a:blip r:embed="rId4"/>
                <a:stretch>
                  <a:fillRect l="-3763" t="-11364" r="-3226" b="-18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9C2D9F-2990-42C6-9C07-BE1B6940AA9C}"/>
                  </a:ext>
                </a:extLst>
              </p:cNvPr>
              <p:cNvSpPr/>
              <p:nvPr/>
            </p:nvSpPr>
            <p:spPr>
              <a:xfrm>
                <a:off x="7009001" y="4347167"/>
                <a:ext cx="1154885" cy="61338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70C0"/>
                    </a:solidFill>
                  </a:rPr>
                  <a:t>X-wind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sz="1800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9C2D9F-2990-42C6-9C07-BE1B6940A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001" y="4347167"/>
                <a:ext cx="1154885" cy="613389"/>
              </a:xfrm>
              <a:prstGeom prst="rect">
                <a:avLst/>
              </a:prstGeom>
              <a:blipFill>
                <a:blip r:embed="rId5"/>
                <a:stretch>
                  <a:fillRect t="-7921" b="-29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D6F03991-CFF5-45D7-8CA2-A7A2AC90533D}"/>
              </a:ext>
            </a:extLst>
          </p:cNvPr>
          <p:cNvSpPr/>
          <p:nvPr/>
        </p:nvSpPr>
        <p:spPr>
          <a:xfrm>
            <a:off x="6708396" y="5289846"/>
            <a:ext cx="1003883" cy="28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70C0"/>
                </a:solidFill>
              </a:rPr>
              <a:t>湍流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5E6DCC-2D34-421D-AE32-99A50DCC31DB}"/>
              </a:ext>
            </a:extLst>
          </p:cNvPr>
          <p:cNvSpPr txBox="1"/>
          <p:nvPr/>
        </p:nvSpPr>
        <p:spPr>
          <a:xfrm>
            <a:off x="281032" y="6440570"/>
            <a:ext cx="4425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假设：稳定的磁重联点在动力学上可行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82D5FE-EB2C-496A-AA83-99DAC6064539}"/>
              </a:ext>
            </a:extLst>
          </p:cNvPr>
          <p:cNvSpPr/>
          <p:nvPr/>
        </p:nvSpPr>
        <p:spPr>
          <a:xfrm>
            <a:off x="3723312" y="4436544"/>
            <a:ext cx="1131117" cy="540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大颗粒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CAI</a:t>
            </a:r>
            <a:r>
              <a:rPr lang="zh-CN" altLang="en-US" dirty="0">
                <a:solidFill>
                  <a:srgbClr val="FF0000"/>
                </a:solidFill>
              </a:rPr>
              <a:t>前体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1299AB-3D9E-4156-B8BB-C7305AF39819}"/>
              </a:ext>
            </a:extLst>
          </p:cNvPr>
          <p:cNvSpPr/>
          <p:nvPr/>
        </p:nvSpPr>
        <p:spPr>
          <a:xfrm>
            <a:off x="1845578" y="4774344"/>
            <a:ext cx="1154885" cy="540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小颗粒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坠入恒星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6BDA0E-D8A2-449D-A5F0-5847ADE40393}"/>
              </a:ext>
            </a:extLst>
          </p:cNvPr>
          <p:cNvSpPr/>
          <p:nvPr/>
        </p:nvSpPr>
        <p:spPr>
          <a:xfrm>
            <a:off x="6916024" y="2888331"/>
            <a:ext cx="1592510" cy="540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小颗粒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被</a:t>
            </a:r>
            <a:r>
              <a:rPr lang="en-US" altLang="zh-CN" dirty="0">
                <a:solidFill>
                  <a:srgbClr val="FF0000"/>
                </a:solidFill>
              </a:rPr>
              <a:t>X-wind</a:t>
            </a:r>
            <a:r>
              <a:rPr lang="zh-CN" altLang="en-US" dirty="0">
                <a:solidFill>
                  <a:srgbClr val="FF0000"/>
                </a:solidFill>
              </a:rPr>
              <a:t>带走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4DC32E-BE0D-4263-BE43-F892316A9B9F}"/>
              </a:ext>
            </a:extLst>
          </p:cNvPr>
          <p:cNvSpPr/>
          <p:nvPr/>
        </p:nvSpPr>
        <p:spPr>
          <a:xfrm>
            <a:off x="9220898" y="4774344"/>
            <a:ext cx="1592510" cy="540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大颗粒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X-wind</a:t>
            </a:r>
            <a:r>
              <a:rPr lang="zh-CN" altLang="en-US" dirty="0">
                <a:solidFill>
                  <a:srgbClr val="FF0000"/>
                </a:solidFill>
              </a:rPr>
              <a:t>解耦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2A1392-B49D-4274-AF93-34D6CCB137CA}"/>
              </a:ext>
            </a:extLst>
          </p:cNvPr>
          <p:cNvSpPr/>
          <p:nvPr/>
        </p:nvSpPr>
        <p:spPr>
          <a:xfrm>
            <a:off x="3861032" y="1479801"/>
            <a:ext cx="4469935" cy="478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热电离的气体盘</a:t>
            </a:r>
            <a:r>
              <a:rPr lang="en-US" altLang="zh-CN" dirty="0">
                <a:solidFill>
                  <a:srgbClr val="0070C0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早期太阳磁场</a:t>
            </a:r>
            <a:r>
              <a:rPr lang="en-US" altLang="zh-CN" dirty="0">
                <a:solidFill>
                  <a:srgbClr val="0070C0"/>
                </a:solidFill>
              </a:rPr>
              <a:t>=</a:t>
            </a:r>
            <a:r>
              <a:rPr lang="zh-CN" altLang="en-US" dirty="0">
                <a:solidFill>
                  <a:srgbClr val="0070C0"/>
                </a:solidFill>
              </a:rPr>
              <a:t>理想</a:t>
            </a:r>
            <a:r>
              <a:rPr lang="en-US" altLang="zh-CN" dirty="0">
                <a:solidFill>
                  <a:srgbClr val="0070C0"/>
                </a:solidFill>
              </a:rPr>
              <a:t>MHD</a:t>
            </a:r>
            <a:endParaRPr lang="zh-CN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A50BDEF-A203-47DD-A6C4-4D7D2D6CCEAC}"/>
                  </a:ext>
                </a:extLst>
              </p:cNvPr>
              <p:cNvSpPr txBox="1"/>
              <p:nvPr/>
            </p:nvSpPr>
            <p:spPr>
              <a:xfrm>
                <a:off x="5938480" y="767155"/>
                <a:ext cx="195508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/>
                  <a:t>开普勒角速度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恒星自转角速度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A50BDEF-A203-47DD-A6C4-4D7D2D6CC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480" y="767155"/>
                <a:ext cx="1955087" cy="615553"/>
              </a:xfrm>
              <a:prstGeom prst="rect">
                <a:avLst/>
              </a:prstGeom>
              <a:blipFill>
                <a:blip r:embed="rId6"/>
                <a:stretch>
                  <a:fillRect l="-7165" t="-7921" r="-1246" b="-21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41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1941873-0005-4D9F-A6D9-989CAD2E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模拟设置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F52D15-97FC-4BF8-B63D-1675C22A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8954" y="261634"/>
            <a:ext cx="6508285" cy="63347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7CDDE6-EC35-433E-BB6D-B153CB129CF1}"/>
              </a:ext>
            </a:extLst>
          </p:cNvPr>
          <p:cNvSpPr txBox="1"/>
          <p:nvPr/>
        </p:nvSpPr>
        <p:spPr>
          <a:xfrm>
            <a:off x="298648" y="1409412"/>
            <a:ext cx="49134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X-point</a:t>
            </a:r>
          </a:p>
          <a:p>
            <a:endParaRPr lang="en-US" altLang="zh-CN" sz="2400" dirty="0"/>
          </a:p>
          <a:p>
            <a:r>
              <a:rPr lang="zh-CN" altLang="en-US" sz="2400" dirty="0"/>
              <a:t>磁场</a:t>
            </a:r>
            <a:endParaRPr lang="en-US" altLang="zh-CN" sz="2400" dirty="0"/>
          </a:p>
          <a:p>
            <a:r>
              <a:rPr lang="en-US" altLang="zh-CN" dirty="0"/>
              <a:t>X-point</a:t>
            </a:r>
            <a:r>
              <a:rPr lang="zh-CN" altLang="en-US" dirty="0"/>
              <a:t>外：参数化的开放磁力线</a:t>
            </a:r>
            <a:endParaRPr lang="en-US" altLang="zh-CN" dirty="0"/>
          </a:p>
          <a:p>
            <a:r>
              <a:rPr lang="en-US" altLang="zh-CN" dirty="0"/>
              <a:t>	    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X-point</a:t>
            </a:r>
            <a:r>
              <a:rPr lang="zh-CN" altLang="en-US" dirty="0"/>
              <a:t>内：偶极磁场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400" dirty="0">
                <a:solidFill>
                  <a:srgbClr val="0070C0"/>
                </a:solidFill>
              </a:rPr>
              <a:t>气体</a:t>
            </a:r>
            <a:endParaRPr lang="en-US" altLang="zh-CN" sz="2400" dirty="0">
              <a:solidFill>
                <a:srgbClr val="0070C0"/>
              </a:solidFill>
            </a:endParaRPr>
          </a:p>
          <a:p>
            <a:r>
              <a:rPr lang="en-US" altLang="zh-CN" dirty="0"/>
              <a:t>X-point</a:t>
            </a:r>
            <a:r>
              <a:rPr lang="zh-CN" altLang="en-US" dirty="0"/>
              <a:t>外：求解等温稳态</a:t>
            </a:r>
            <a:r>
              <a:rPr lang="en-US" altLang="zh-CN" dirty="0"/>
              <a:t>Bernoulli</a:t>
            </a:r>
            <a:r>
              <a:rPr lang="zh-CN" altLang="en-US" dirty="0"/>
              <a:t>方程</a:t>
            </a:r>
            <a:endParaRPr lang="en-US" altLang="zh-CN" dirty="0"/>
          </a:p>
          <a:p>
            <a:r>
              <a:rPr lang="en-US" altLang="zh-CN" dirty="0"/>
              <a:t>	    </a:t>
            </a:r>
            <a:r>
              <a:rPr lang="zh-CN" altLang="en-US" dirty="0"/>
              <a:t>考虑动量、磁通量守恒</a:t>
            </a:r>
            <a:endParaRPr lang="en-US" altLang="zh-CN" dirty="0"/>
          </a:p>
          <a:p>
            <a:r>
              <a:rPr lang="en-US" altLang="zh-CN" dirty="0"/>
              <a:t>X-point</a:t>
            </a:r>
            <a:r>
              <a:rPr lang="zh-CN" altLang="en-US" dirty="0"/>
              <a:t>内：无风场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尘埃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/>
              <a:t>X-point</a:t>
            </a:r>
            <a:r>
              <a:rPr lang="zh-CN" altLang="en-US" dirty="0"/>
              <a:t>外：引力、离心力、气体阻力</a:t>
            </a:r>
            <a:endParaRPr lang="en-US" altLang="zh-CN" dirty="0"/>
          </a:p>
          <a:p>
            <a:r>
              <a:rPr lang="en-US" altLang="zh-CN" dirty="0"/>
              <a:t>X-point</a:t>
            </a:r>
            <a:r>
              <a:rPr lang="zh-CN" altLang="en-US" dirty="0"/>
              <a:t>外：引力、离心力、气体阻力（极小）</a:t>
            </a:r>
            <a:endParaRPr lang="en-US" altLang="zh-CN" dirty="0"/>
          </a:p>
          <a:p>
            <a:r>
              <a:rPr lang="en-US" altLang="zh-CN" dirty="0"/>
              <a:t>	    Stokes</a:t>
            </a:r>
            <a:r>
              <a:rPr lang="zh-CN" altLang="en-US" dirty="0"/>
              <a:t>数，尘埃与风场的耦合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2011A0-D079-435D-9E59-756178CA1CE0}"/>
              </a:ext>
            </a:extLst>
          </p:cNvPr>
          <p:cNvSpPr txBox="1"/>
          <p:nvPr/>
        </p:nvSpPr>
        <p:spPr>
          <a:xfrm>
            <a:off x="10076576" y="4540290"/>
            <a:ext cx="90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亚声速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E4239B-1BB5-4AD7-B2B9-A85C1A5EAD7A}"/>
              </a:ext>
            </a:extLst>
          </p:cNvPr>
          <p:cNvSpPr txBox="1"/>
          <p:nvPr/>
        </p:nvSpPr>
        <p:spPr>
          <a:xfrm>
            <a:off x="8623096" y="2417536"/>
            <a:ext cx="90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5A2781"/>
                </a:solidFill>
              </a:rPr>
              <a:t>超声速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F6F8EF-CE58-4503-93FE-AD6223E078D4}"/>
              </a:ext>
            </a:extLst>
          </p:cNvPr>
          <p:cNvSpPr txBox="1"/>
          <p:nvPr/>
        </p:nvSpPr>
        <p:spPr>
          <a:xfrm>
            <a:off x="6096000" y="403599"/>
            <a:ext cx="171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侧视图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2F8CC9-149A-4DE2-8121-0A1452970725}"/>
              </a:ext>
            </a:extLst>
          </p:cNvPr>
          <p:cNvSpPr txBox="1"/>
          <p:nvPr/>
        </p:nvSpPr>
        <p:spPr>
          <a:xfrm>
            <a:off x="9378891" y="6227032"/>
            <a:ext cx="139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星盘的平面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74B7E5-5ADA-481C-A007-CB50B7F80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054" y="1338071"/>
            <a:ext cx="1779533" cy="74231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FF04B55-8F64-4F16-B0E7-41C9A5009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131" y="2848187"/>
            <a:ext cx="3780386" cy="49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9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4CEF8-5A1F-41EF-983E-19FF8C88E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模拟结果</a:t>
            </a:r>
          </a:p>
        </p:txBody>
      </p:sp>
      <p:pic>
        <p:nvPicPr>
          <p:cNvPr id="3" name="xwind_cai_final_0.2yr">
            <a:hlinkClick r:id="" action="ppaction://media"/>
            <a:extLst>
              <a:ext uri="{FF2B5EF4-FFF2-40B4-BE49-F238E27FC236}">
                <a16:creationId xmlns:a16="http://schemas.microsoft.com/office/drawing/2014/main" id="{5D3C8A58-F3FD-4DC2-9EEB-A1D06DEF66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30212" y="27035"/>
            <a:ext cx="6754735" cy="675473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834224-D6F9-48F7-8154-A5DE9F5413BA}"/>
              </a:ext>
            </a:extLst>
          </p:cNvPr>
          <p:cNvSpPr txBox="1"/>
          <p:nvPr/>
        </p:nvSpPr>
        <p:spPr>
          <a:xfrm>
            <a:off x="181762" y="1432572"/>
            <a:ext cx="5640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0.2</a:t>
            </a:r>
            <a:r>
              <a:rPr lang="zh-CN" altLang="en-US" dirty="0"/>
              <a:t>年积分时间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X-point</a:t>
            </a:r>
            <a:r>
              <a:rPr lang="zh-CN" altLang="en-US" b="1" dirty="0">
                <a:solidFill>
                  <a:srgbClr val="FF0000"/>
                </a:solidFill>
              </a:rPr>
              <a:t>以内</a:t>
            </a:r>
            <a:r>
              <a:rPr lang="zh-CN" altLang="en-US" dirty="0">
                <a:solidFill>
                  <a:srgbClr val="FF0000"/>
                </a:solidFill>
              </a:rPr>
              <a:t>，小颗粒落入太阳，大颗粒位置几乎不变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3685CB-643C-4E86-8C66-69910B3887D8}"/>
              </a:ext>
            </a:extLst>
          </p:cNvPr>
          <p:cNvSpPr txBox="1"/>
          <p:nvPr/>
        </p:nvSpPr>
        <p:spPr>
          <a:xfrm>
            <a:off x="181762" y="2004674"/>
            <a:ext cx="66233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r = 0.85 R_X (INSIDE):</a:t>
            </a:r>
            <a:endParaRPr lang="en-US" altLang="zh-CN" sz="1600" dirty="0"/>
          </a:p>
          <a:p>
            <a:r>
              <a:rPr lang="zh-CN" altLang="en-US" sz="1400" dirty="0"/>
              <a:t>θ = 75°:</a:t>
            </a:r>
          </a:p>
          <a:p>
            <a:r>
              <a:rPr lang="zh-CN" altLang="en-US" sz="1400" dirty="0"/>
              <a:t>▼ a= 1.00μm: St₀=5.0e+00, r: 0.0590→0.0094 AU, θf=87.7° → INFALL</a:t>
            </a:r>
          </a:p>
          <a:p>
            <a:r>
              <a:rPr lang="zh-CN" altLang="en-US" sz="1400" dirty="0"/>
              <a:t>▼ a= 0.10mm: St₀=5.0e+02, r: 0.0590→0.0607 AU, θf=90.7° </a:t>
            </a:r>
            <a:endParaRPr lang="en-US" altLang="zh-CN" sz="1400" dirty="0"/>
          </a:p>
          <a:p>
            <a:r>
              <a:rPr lang="zh-CN" altLang="en-US" sz="1400" dirty="0"/>
              <a:t>▼ a= 1.00cm: St₀=5.0e+04, r: 0.0590→0.0601 AU, θf=82.7° </a:t>
            </a:r>
            <a:endParaRPr lang="en-US" altLang="zh-CN" sz="1400" dirty="0"/>
          </a:p>
          <a:p>
            <a:r>
              <a:rPr lang="zh-CN" altLang="en-US" sz="1400" dirty="0"/>
              <a:t>θ = 85°:</a:t>
            </a:r>
          </a:p>
          <a:p>
            <a:r>
              <a:rPr lang="zh-CN" altLang="en-US" sz="1400" dirty="0"/>
              <a:t>▼ a= 1.00μm: St₀=5.0e+00, r: 0.0590→0.0094 AU, θf=88.2° → INFALL</a:t>
            </a:r>
          </a:p>
          <a:p>
            <a:r>
              <a:rPr lang="zh-CN" altLang="en-US" sz="1400" dirty="0"/>
              <a:t>▼ a= 0.10mm: St₀=5.0e+02, r: 0.0590→0.0585 AU, θf=86.0° </a:t>
            </a:r>
            <a:endParaRPr lang="en-US" altLang="zh-CN" sz="1400" dirty="0"/>
          </a:p>
          <a:p>
            <a:r>
              <a:rPr lang="zh-CN" altLang="en-US" sz="1400" dirty="0"/>
              <a:t>▼ a= 1.00cm: St₀=5.0e+04, r: 0.0590→0.0591 AU, θf=88.4°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600" dirty="0"/>
              <a:t>r = 0.95 R_X (INSIDE):</a:t>
            </a:r>
          </a:p>
          <a:p>
            <a:r>
              <a:rPr lang="zh-CN" altLang="en-US" sz="1400" dirty="0"/>
              <a:t>θ = 75°:</a:t>
            </a:r>
          </a:p>
          <a:p>
            <a:r>
              <a:rPr lang="zh-CN" altLang="en-US" sz="1400" dirty="0"/>
              <a:t>▼ a= 1.00μm: St₀=5.0e+00, r: 0.0659→0.0094 AU, θf=97.5° → INFALL</a:t>
            </a:r>
          </a:p>
          <a:p>
            <a:r>
              <a:rPr lang="zh-CN" altLang="en-US" sz="1400" dirty="0"/>
              <a:t>▼ a= 0.10mm: St₀=5.0e+02, r: 0.0659→0.0671 AU, θf=82.6° </a:t>
            </a:r>
            <a:endParaRPr lang="en-US" altLang="zh-CN" sz="1400" dirty="0"/>
          </a:p>
          <a:p>
            <a:r>
              <a:rPr lang="zh-CN" altLang="en-US" sz="1400" dirty="0"/>
              <a:t>▼ a= 1.00cm: St₀=5.0e+04, r: 0.0659→0.0669 AU, θf=80.8° </a:t>
            </a:r>
            <a:endParaRPr lang="en-US" altLang="zh-CN" sz="1400" dirty="0"/>
          </a:p>
          <a:p>
            <a:r>
              <a:rPr lang="zh-CN" altLang="en-US" sz="1400" dirty="0"/>
              <a:t>θ = 85°:</a:t>
            </a:r>
          </a:p>
          <a:p>
            <a:r>
              <a:rPr lang="zh-CN" altLang="en-US" sz="1400" dirty="0"/>
              <a:t>▼ a= 1.00μm: St₀=5.0e+00, r: 0.0659→0.0093 AU, θf=87.3° → INFALL</a:t>
            </a:r>
          </a:p>
          <a:p>
            <a:r>
              <a:rPr lang="zh-CN" altLang="en-US" sz="1400" dirty="0"/>
              <a:t>▼ a= 0.10mm: St₀=5.0e+02, r: 0.0659→0.0660 AU, θf=91.4° </a:t>
            </a:r>
            <a:endParaRPr lang="en-US" altLang="zh-CN" sz="1400" dirty="0"/>
          </a:p>
          <a:p>
            <a:r>
              <a:rPr lang="zh-CN" altLang="en-US" sz="1400" dirty="0"/>
              <a:t>▼ a= 1.00cm: St₀=5.0e+04, r: 0.0659→0.0663 AU, θf=92.2°</a:t>
            </a:r>
          </a:p>
        </p:txBody>
      </p:sp>
    </p:spTree>
    <p:extLst>
      <p:ext uri="{BB962C8B-B14F-4D97-AF65-F5344CB8AC3E}">
        <p14:creationId xmlns:p14="http://schemas.microsoft.com/office/powerpoint/2010/main" val="79907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4CEF8-5A1F-41EF-983E-19FF8C88E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模拟结果</a:t>
            </a:r>
          </a:p>
        </p:txBody>
      </p:sp>
      <p:pic>
        <p:nvPicPr>
          <p:cNvPr id="3" name="xwind_cai_final_0.2yr">
            <a:hlinkClick r:id="" action="ppaction://media"/>
            <a:extLst>
              <a:ext uri="{FF2B5EF4-FFF2-40B4-BE49-F238E27FC236}">
                <a16:creationId xmlns:a16="http://schemas.microsoft.com/office/drawing/2014/main" id="{5D3C8A58-F3FD-4DC2-9EEB-A1D06DEF66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30212" y="27035"/>
            <a:ext cx="6754735" cy="67547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3685CB-643C-4E86-8C66-69910B3887D8}"/>
              </a:ext>
            </a:extLst>
          </p:cNvPr>
          <p:cNvSpPr txBox="1"/>
          <p:nvPr/>
        </p:nvSpPr>
        <p:spPr>
          <a:xfrm>
            <a:off x="181762" y="2046619"/>
            <a:ext cx="66233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r = 1.05 R_X (OUTSIDE):</a:t>
            </a:r>
          </a:p>
          <a:p>
            <a:r>
              <a:rPr lang="el-GR" altLang="zh-CN" sz="1400" dirty="0"/>
              <a:t>θ = 75°:</a:t>
            </a:r>
            <a:endParaRPr lang="en-US" altLang="zh-CN" sz="1400" dirty="0"/>
          </a:p>
          <a:p>
            <a:r>
              <a:rPr lang="el-GR" altLang="zh-CN" sz="1400" dirty="0"/>
              <a:t>● </a:t>
            </a:r>
            <a:r>
              <a:rPr lang="en-US" altLang="zh-CN" sz="1400" dirty="0"/>
              <a:t>a= 1.00</a:t>
            </a:r>
            <a:r>
              <a:rPr lang="el-GR" altLang="zh-CN" sz="1400" dirty="0"/>
              <a:t>μ</a:t>
            </a:r>
            <a:r>
              <a:rPr lang="en-US" altLang="zh-CN" sz="1400" dirty="0"/>
              <a:t>m: St₀=6.4e-06, r: 0.0729→0.5374 AU, </a:t>
            </a:r>
            <a:r>
              <a:rPr lang="el-GR" altLang="zh-CN" sz="1400" dirty="0"/>
              <a:t>θ</a:t>
            </a:r>
            <a:r>
              <a:rPr lang="en-US" altLang="zh-CN" sz="1400" dirty="0"/>
              <a:t>f=1.5° → EJECTED</a:t>
            </a:r>
          </a:p>
          <a:p>
            <a:r>
              <a:rPr lang="en-US" altLang="zh-CN" sz="1400" dirty="0"/>
              <a:t>● a= 0.10mm: St₀=6.4e-04, r: 0.0729→7.5958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f=82.4° → EJECTED</a:t>
            </a:r>
          </a:p>
          <a:p>
            <a:r>
              <a:rPr lang="en-US" altLang="zh-CN" sz="1400" dirty="0"/>
              <a:t>● a= 1.00cm: St₀=6.4e-02, r: 0.0729→3.9439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f=88.3° → EJECTED</a:t>
            </a:r>
          </a:p>
          <a:p>
            <a:r>
              <a:rPr lang="el-GR" altLang="zh-CN" sz="1400" dirty="0"/>
              <a:t>θ = 85°:</a:t>
            </a:r>
          </a:p>
          <a:p>
            <a:r>
              <a:rPr lang="el-GR" altLang="zh-CN" sz="1400" dirty="0"/>
              <a:t>● </a:t>
            </a:r>
            <a:r>
              <a:rPr lang="en-US" altLang="zh-CN" sz="1400" dirty="0"/>
              <a:t>a= 1.00</a:t>
            </a:r>
            <a:r>
              <a:rPr lang="el-GR" altLang="zh-CN" sz="1400" dirty="0"/>
              <a:t>μ</a:t>
            </a:r>
            <a:r>
              <a:rPr lang="en-US" altLang="zh-CN" sz="1400" dirty="0"/>
              <a:t>m: St₀=6.9e-06, r: 0.0729→0.7898 AU, </a:t>
            </a:r>
            <a:r>
              <a:rPr lang="el-GR" altLang="zh-CN" sz="1400" dirty="0"/>
              <a:t>θ</a:t>
            </a:r>
            <a:r>
              <a:rPr lang="en-US" altLang="zh-CN" sz="1400" dirty="0"/>
              <a:t>f=5.2° → EJECTED</a:t>
            </a:r>
          </a:p>
          <a:p>
            <a:r>
              <a:rPr lang="en-US" altLang="zh-CN" sz="1400" dirty="0"/>
              <a:t>● a= 0.10mm: St₀=6.9e-04, r: 0.0729→9.7286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f=84.1° → EJECTED</a:t>
            </a:r>
          </a:p>
          <a:p>
            <a:r>
              <a:rPr lang="en-US" altLang="zh-CN" sz="1400" dirty="0"/>
              <a:t>● a= 1.00cm: St₀=6.9e-02, r: 0.0729→5.0321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f=89.2° → EJECTED</a:t>
            </a:r>
          </a:p>
          <a:p>
            <a:endParaRPr lang="en-US" altLang="zh-CN" sz="1400" dirty="0"/>
          </a:p>
          <a:p>
            <a:r>
              <a:rPr lang="en-US" altLang="zh-CN" sz="1600" dirty="0"/>
              <a:t>r = 1.20 R_X (OUTSIDE):</a:t>
            </a:r>
          </a:p>
          <a:p>
            <a:r>
              <a:rPr lang="el-GR" altLang="zh-CN" sz="1400" dirty="0"/>
              <a:t>θ = 75°:</a:t>
            </a:r>
          </a:p>
          <a:p>
            <a:r>
              <a:rPr lang="el-GR" altLang="zh-CN" sz="1400" dirty="0"/>
              <a:t>● </a:t>
            </a:r>
            <a:r>
              <a:rPr lang="en-US" altLang="zh-CN" sz="1400" dirty="0"/>
              <a:t>a= 1.00</a:t>
            </a:r>
            <a:r>
              <a:rPr lang="el-GR" altLang="zh-CN" sz="1400" dirty="0"/>
              <a:t>μ</a:t>
            </a:r>
            <a:r>
              <a:rPr lang="en-US" altLang="zh-CN" sz="1400" dirty="0"/>
              <a:t>m: St₀=7.3e-05, r: 0.0833→0.9827 AU, </a:t>
            </a:r>
            <a:r>
              <a:rPr lang="el-GR" altLang="zh-CN" sz="1400" dirty="0"/>
              <a:t>θ</a:t>
            </a:r>
            <a:r>
              <a:rPr lang="en-US" altLang="zh-CN" sz="1400" dirty="0"/>
              <a:t>f=4.9° → EJECTED</a:t>
            </a:r>
          </a:p>
          <a:p>
            <a:r>
              <a:rPr lang="en-US" altLang="zh-CN" sz="1400" dirty="0"/>
              <a:t>● a= 0.10mm: St₀=7.3e-03, r: 0.0833→9.5744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f=83.7° → EJECTED</a:t>
            </a:r>
          </a:p>
          <a:p>
            <a:r>
              <a:rPr lang="en-US" altLang="zh-CN" sz="1400" dirty="0"/>
              <a:t>● a= 1.00cm: St₀=7.3e-01, r: 0.0833→5.0922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f=89.7° → EJECTED</a:t>
            </a:r>
          </a:p>
          <a:p>
            <a:r>
              <a:rPr lang="el-GR" altLang="zh-CN" sz="1400" dirty="0"/>
              <a:t>θ = 85°:</a:t>
            </a:r>
          </a:p>
          <a:p>
            <a:r>
              <a:rPr lang="el-GR" altLang="zh-CN" sz="1400" dirty="0"/>
              <a:t>● </a:t>
            </a:r>
            <a:r>
              <a:rPr lang="en-US" altLang="zh-CN" sz="1400" dirty="0"/>
              <a:t>a= 1.00</a:t>
            </a:r>
            <a:r>
              <a:rPr lang="el-GR" altLang="zh-CN" sz="1400" dirty="0"/>
              <a:t>μ</a:t>
            </a:r>
            <a:r>
              <a:rPr lang="en-US" altLang="zh-CN" sz="1400" dirty="0"/>
              <a:t>m: St₀=7.9e-05, r: 0.0833→4.0100 AU, </a:t>
            </a:r>
            <a:r>
              <a:rPr lang="el-GR" altLang="zh-CN" sz="1400" dirty="0"/>
              <a:t>θ</a:t>
            </a:r>
            <a:r>
              <a:rPr lang="en-US" altLang="zh-CN" sz="1400" dirty="0"/>
              <a:t>f=57.3° → EJECTED</a:t>
            </a:r>
          </a:p>
          <a:p>
            <a:r>
              <a:rPr lang="en-US" altLang="zh-CN" sz="1400" dirty="0"/>
              <a:t>● a= 0.10mm: St₀=7.9e-03, r: 0.0833→9.9748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f=84.8° → EJECTED</a:t>
            </a:r>
          </a:p>
          <a:p>
            <a:r>
              <a:rPr lang="en-US" altLang="zh-CN" sz="1400" dirty="0"/>
              <a:t>● a= 1.00cm: St₀=7.9e-01, r: 0.0833→5.0839 AU, </a:t>
            </a:r>
            <a:r>
              <a:rPr lang="el-GR" altLang="zh-CN" sz="1400" dirty="0"/>
              <a:t>θ</a:t>
            </a:r>
            <a:r>
              <a:rPr lang="en-US" altLang="zh-CN" sz="1400" dirty="0"/>
              <a:t>f=89.3° → EJECTED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80F521-4CA1-43B0-8A1B-2DC75668E99E}"/>
              </a:ext>
            </a:extLst>
          </p:cNvPr>
          <p:cNvSpPr txBox="1"/>
          <p:nvPr/>
        </p:nvSpPr>
        <p:spPr>
          <a:xfrm>
            <a:off x="181761" y="1432572"/>
            <a:ext cx="6277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0.2</a:t>
            </a:r>
            <a:r>
              <a:rPr lang="zh-CN" altLang="en-US" dirty="0"/>
              <a:t>年积分时间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X-point</a:t>
            </a:r>
            <a:r>
              <a:rPr lang="zh-CN" altLang="en-US" b="1" dirty="0">
                <a:solidFill>
                  <a:srgbClr val="FF0000"/>
                </a:solidFill>
              </a:rPr>
              <a:t>以外</a:t>
            </a:r>
            <a:r>
              <a:rPr lang="zh-CN" altLang="en-US" dirty="0">
                <a:solidFill>
                  <a:srgbClr val="FF0000"/>
                </a:solidFill>
              </a:rPr>
              <a:t>，小颗粒先被抛出，大颗粒后被抛出，角度不同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30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494FFB3-A1E7-41F7-8954-02A97CEC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B25259-C666-40A7-9478-90CB3DECCC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茅单文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180AFA-B369-49A0-AEF2-5FE5423DF6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06/16/2026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1650DB6-1676-4FD8-97B5-AAA9ED3450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早期太阳系的富钙铝质难熔包体（</a:t>
            </a:r>
            <a:r>
              <a:rPr lang="en-US" altLang="zh-CN" sz="2400" b="1" dirty="0"/>
              <a:t>CAI</a:t>
            </a:r>
            <a:r>
              <a:rPr lang="en-US" altLang="zh-CN" sz="2400" dirty="0"/>
              <a:t>s</a:t>
            </a:r>
            <a:r>
              <a:rPr lang="zh-CN" altLang="en-US" sz="2400" dirty="0"/>
              <a:t>）</a:t>
            </a:r>
            <a:r>
              <a:rPr lang="en-US" altLang="zh-CN" b="1" dirty="0"/>
              <a:t>X-wind</a:t>
            </a:r>
            <a:r>
              <a:rPr lang="zh-CN" altLang="en-US" dirty="0"/>
              <a:t>成因模型及其数值模拟</a:t>
            </a:r>
          </a:p>
        </p:txBody>
      </p:sp>
    </p:spTree>
    <p:extLst>
      <p:ext uri="{BB962C8B-B14F-4D97-AF65-F5344CB8AC3E}">
        <p14:creationId xmlns:p14="http://schemas.microsoft.com/office/powerpoint/2010/main" val="253928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科研汇报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_template_MDW.potx" id="{B08AABB1-ECC2-479A-8314-5EF985CA4BD2}" vid="{C2A323C7-7F41-42A5-9561-1890A7DC4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my_template_MDW_0526</Template>
  <TotalTime>258</TotalTime>
  <Words>1154</Words>
  <Application>Microsoft Office PowerPoint</Application>
  <PresentationFormat>宽屏</PresentationFormat>
  <Paragraphs>109</Paragraphs>
  <Slides>7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Montserrat-Medium</vt:lpstr>
      <vt:lpstr>华文中宋</vt:lpstr>
      <vt:lpstr>Arial</vt:lpstr>
      <vt:lpstr>Cambria Math</vt:lpstr>
      <vt:lpstr>Wingdings</vt:lpstr>
      <vt:lpstr>Office 主题​​</vt:lpstr>
      <vt:lpstr>早期太阳系的富钙铝质难熔包体（CAIs） X-wind成因模型及其数值模拟</vt:lpstr>
      <vt:lpstr>问题背景</vt:lpstr>
      <vt:lpstr>物理模型</vt:lpstr>
      <vt:lpstr>模拟设置</vt:lpstr>
      <vt:lpstr>模拟结果</vt:lpstr>
      <vt:lpstr>模拟结果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太阳系早期物质钙铝质难熔包体（CAIs）的X-wind成因模型及动力学数值模拟</dc:title>
  <dc:creator>DANWEN MAO</dc:creator>
  <cp:lastModifiedBy>DANWEN MAO</cp:lastModifiedBy>
  <cp:revision>19</cp:revision>
  <dcterms:created xsi:type="dcterms:W3CDTF">2026-06-15T11:05:29Z</dcterms:created>
  <dcterms:modified xsi:type="dcterms:W3CDTF">2026-06-16T03:03:03Z</dcterms:modified>
</cp:coreProperties>
</file>